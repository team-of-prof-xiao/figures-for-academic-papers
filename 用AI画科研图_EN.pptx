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50"/>
  </p:normalViewPr>
  <p:slideViewPr>
    <p:cSldViewPr snapToGrid="0" snapToObjects="1">
      <p:cViewPr varScale="1">
        <p:scale>
          <a:sx n="157" d="100"/>
          <a:sy n="157" d="100"/>
        </p:scale>
        <p:origin x="11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G"/><Relationship Id="rId13" Type="http://schemas.openxmlformats.org/officeDocument/2006/relationships/image" Target="../media/image117.JPG"/><Relationship Id="rId3" Type="http://schemas.openxmlformats.org/officeDocument/2006/relationships/image" Target="../media/image107.JPG"/><Relationship Id="rId7" Type="http://schemas.openxmlformats.org/officeDocument/2006/relationships/image" Target="../media/image111.JPG"/><Relationship Id="rId12" Type="http://schemas.openxmlformats.org/officeDocument/2006/relationships/image" Target="../media/image116.JPG"/><Relationship Id="rId17" Type="http://schemas.openxmlformats.org/officeDocument/2006/relationships/image" Target="../media/image121.JPG"/><Relationship Id="rId2" Type="http://schemas.openxmlformats.org/officeDocument/2006/relationships/image" Target="../media/image106.JPG"/><Relationship Id="rId16" Type="http://schemas.openxmlformats.org/officeDocument/2006/relationships/image" Target="../media/image12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JPG"/><Relationship Id="rId11" Type="http://schemas.openxmlformats.org/officeDocument/2006/relationships/image" Target="../media/image115.JPG"/><Relationship Id="rId5" Type="http://schemas.openxmlformats.org/officeDocument/2006/relationships/image" Target="../media/image109.JPG"/><Relationship Id="rId15" Type="http://schemas.openxmlformats.org/officeDocument/2006/relationships/image" Target="../media/image119.JPG"/><Relationship Id="rId10" Type="http://schemas.openxmlformats.org/officeDocument/2006/relationships/image" Target="../media/image114.JPG"/><Relationship Id="rId4" Type="http://schemas.openxmlformats.org/officeDocument/2006/relationships/image" Target="../media/image108.JPG"/><Relationship Id="rId9" Type="http://schemas.openxmlformats.org/officeDocument/2006/relationships/image" Target="../media/image113.JPG"/><Relationship Id="rId14" Type="http://schemas.openxmlformats.org/officeDocument/2006/relationships/image" Target="../media/image1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88720"/>
            <a:ext cx="512064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Aft>
                <a:spcPts val="0"/>
              </a:spcAft>
            </a:pPr>
            <a:r>
              <a:rPr lang="en-US" sz="4000" b="0">
                <a:solidFill>
                  <a:srgbClr val="1E2B3A"/>
                </a:solidFill>
                <a:latin typeface="Aptos SemiBold"/>
                <a:ea typeface="PingFang SC"/>
              </a:rPr>
              <a:t>Drawing research</a:t>
            </a:r>
          </a:p>
          <a:p>
            <a:pPr algn="l">
              <a:lnSpc>
                <a:spcPts val="4800"/>
              </a:lnSpc>
              <a:spcAft>
                <a:spcPts val="0"/>
              </a:spcAft>
            </a:pPr>
            <a:r>
              <a:rPr lang="en-US" sz="4000" b="0">
                <a:solidFill>
                  <a:srgbClr val="1E2B3A"/>
                </a:solidFill>
                <a:latin typeface="Aptos SemiBold"/>
                <a:ea typeface="PingFang SC"/>
              </a:rPr>
              <a:t>figures with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670048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90088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D08A1E"/>
                </a:solidFill>
                <a:latin typeface="Aptos SemiBold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90088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Generate many styles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65576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D08A1E"/>
                </a:solidFill>
                <a:latin typeface="Aptos SemiBold"/>
                <a:ea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65576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Pick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41064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D08A1E"/>
                </a:solidFill>
                <a:latin typeface="Aptos SemiBold"/>
                <a:ea typeface="PingFang S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41064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Draw components in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16552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D08A1E"/>
                </a:solidFill>
                <a:latin typeface="Aptos SemiBold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16552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Assemble with python-pptx</a:t>
            </a:r>
          </a:p>
        </p:txBody>
      </p:sp>
      <p:pic>
        <p:nvPicPr>
          <p:cNvPr id="12" name="Picture 11" descr="fig3_hd_8db3f72088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315" y="686091"/>
            <a:ext cx="5701850" cy="3519858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3" name="Picture 12" descr="fig1_hd_2d8e5915e4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715000" y="3369564"/>
            <a:ext cx="2606040" cy="277063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4" name="Picture 13" descr="fig2_hd_04f48fa9c8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">
            <a:off x="8778240" y="3669792"/>
            <a:ext cx="2880360" cy="258165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Three schematic figures, all drawn with code</a:t>
            </a:r>
          </a:p>
        </p:txBody>
      </p:sp>
      <p:pic>
        <p:nvPicPr>
          <p:cNvPr id="3" name="Picture 2" descr="fig1_hd_6e9b758cb0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2665"/>
            <a:ext cx="2625181" cy="278983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85800" y="5093208"/>
            <a:ext cx="262518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Fig. 1  Bilevel structure</a:t>
            </a:r>
          </a:p>
        </p:txBody>
      </p:sp>
      <p:pic>
        <p:nvPicPr>
          <p:cNvPr id="5" name="Picture 4" descr="fig2_hd_cc41c503ed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694" y="2103104"/>
            <a:ext cx="3108996" cy="2788952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615694" y="5093208"/>
            <a:ext cx="310899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Fig. 2  Decision landscape</a:t>
            </a:r>
          </a:p>
        </p:txBody>
      </p:sp>
      <p:pic>
        <p:nvPicPr>
          <p:cNvPr id="7" name="Picture 6" descr="fig3_hd_bcb0488026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04" y="2103337"/>
            <a:ext cx="4473748" cy="278848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7029404" y="5093208"/>
            <a:ext cx="44737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Fig. 3  Method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Four steps to one schematic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Example: Fig.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487168" cy="393192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_opt_A_041374a3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48" y="1948179"/>
            <a:ext cx="818959" cy="867665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6" name="Picture 5" descr="fig1_opt_B_67e30ee3a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47672"/>
            <a:ext cx="868680" cy="86868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7" name="Picture 6" descr="fig1_opt_C_7fb009597e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90" y="2908458"/>
            <a:ext cx="833876" cy="867347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8" name="Picture 7" descr="fig1_opt_D_0cb17f0b2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350" y="2907593"/>
            <a:ext cx="850781" cy="869078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68680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379976"/>
            <a:ext cx="2084832" cy="262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Generate many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15256"/>
            <a:ext cx="2084832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Ask the AI for 3–7 versions, as different as possible</a:t>
            </a:r>
          </a:p>
        </p:txBody>
      </p:sp>
      <p:sp>
        <p:nvSpPr>
          <p:cNvPr id="13" name="Chevron 12"/>
          <p:cNvSpPr/>
          <p:nvPr/>
        </p:nvSpPr>
        <p:spPr>
          <a:xfrm>
            <a:off x="3244596" y="2743200"/>
            <a:ext cx="146304" cy="27432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62528" y="1783080"/>
            <a:ext cx="2487168" cy="393192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1_opt_A_041374a3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276" y="1948179"/>
            <a:ext cx="818959" cy="867665"/>
          </a:xfrm>
          <a:prstGeom prst="rect">
            <a:avLst/>
          </a:prstGeom>
          <a:ln w="22225">
            <a:solidFill>
              <a:srgbClr val="D08A1E"/>
            </a:solidFill>
          </a:ln>
        </p:spPr>
      </p:pic>
      <p:pic>
        <p:nvPicPr>
          <p:cNvPr id="16" name="Picture 15" descr="fig1_opt_B_dim_41530bef08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128" y="1947672"/>
            <a:ext cx="868680" cy="86868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17" name="Picture 16" descr="fig1_opt_C_dim_50ad414988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6818" y="2908458"/>
            <a:ext cx="833876" cy="867347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18" name="Picture 17" descr="fig1_opt_D_dim_06d95fae1e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3078" y="2907593"/>
            <a:ext cx="850781" cy="869078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3645408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63696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3696" y="4379976"/>
            <a:ext cx="2084832" cy="262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Pick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3696" y="4715256"/>
            <a:ext cx="2084832" cy="667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Say what you like about one; if you can't, let the AI offer options</a:t>
            </a:r>
          </a:p>
        </p:txBody>
      </p:sp>
      <p:sp>
        <p:nvSpPr>
          <p:cNvPr id="23" name="Chevron 22"/>
          <p:cNvSpPr/>
          <p:nvPr/>
        </p:nvSpPr>
        <p:spPr>
          <a:xfrm>
            <a:off x="6021324" y="2743200"/>
            <a:ext cx="146304" cy="27432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39256" y="1783080"/>
            <a:ext cx="2487168" cy="393192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part_fig1_01_floor_1_62eadcbf7f_9257f03e1c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681" y="1947595"/>
            <a:ext cx="1524318" cy="777395"/>
          </a:xfrm>
          <a:prstGeom prst="rect">
            <a:avLst/>
          </a:prstGeom>
          <a:ln w="9525">
            <a:solidFill>
              <a:srgbClr val="E2DED7"/>
            </a:solidFill>
          </a:ln>
        </p:spPr>
      </p:pic>
      <p:pic>
        <p:nvPicPr>
          <p:cNvPr id="26" name="Picture 25" descr="part_fig1_02_glass_scene_1_b7d78dd39b_ed93e2b90df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682" y="2815671"/>
            <a:ext cx="891271" cy="961483"/>
          </a:xfrm>
          <a:prstGeom prst="rect">
            <a:avLst/>
          </a:prstGeom>
          <a:ln w="9525">
            <a:solidFill>
              <a:srgbClr val="E2DED7"/>
            </a:solidFill>
          </a:ln>
        </p:spPr>
      </p:pic>
      <p:pic>
        <p:nvPicPr>
          <p:cNvPr id="27" name="Picture 26" descr="part_fig1_03_upper_level_1_1daa093c5b_cce0e9b29f1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1393" y="2815975"/>
            <a:ext cx="1125606" cy="960874"/>
          </a:xfrm>
          <a:prstGeom prst="rect">
            <a:avLst/>
          </a:prstGeom>
          <a:ln w="9525">
            <a:solidFill>
              <a:srgbClr val="E2DED7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6422136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0424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0424" y="4379976"/>
            <a:ext cx="2084832" cy="505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Draw components</a:t>
            </a:r>
          </a:p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in 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0424" y="4959096"/>
            <a:ext cx="2084832" cy="667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Split it into small components, one piece of code each</a:t>
            </a:r>
          </a:p>
        </p:txBody>
      </p:sp>
      <p:sp>
        <p:nvSpPr>
          <p:cNvPr id="32" name="Chevron 31"/>
          <p:cNvSpPr/>
          <p:nvPr/>
        </p:nvSpPr>
        <p:spPr>
          <a:xfrm>
            <a:off x="8798052" y="2743200"/>
            <a:ext cx="146304" cy="27432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15984" y="1783080"/>
            <a:ext cx="2487168" cy="393192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ig1_hd_8a6816155b08_w5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2620" y="1947672"/>
            <a:ext cx="1713895" cy="182880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35" name="Rectangle 34"/>
          <p:cNvSpPr/>
          <p:nvPr/>
        </p:nvSpPr>
        <p:spPr>
          <a:xfrm>
            <a:off x="9198864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17152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4379976"/>
            <a:ext cx="2084832" cy="505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Assemble with</a:t>
            </a:r>
          </a:p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1E2B3A"/>
                </a:solidFill>
                <a:latin typeface="Aptos SemiBold"/>
                <a:ea typeface="PingFang SC"/>
              </a:rPr>
              <a:t>python-pptx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4959096"/>
            <a:ext cx="2084832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Put them on a paper-sized slide as one editable figure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925312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</a:pPr>
            <a:r>
              <a:rPr lang="en-US" sz="1800" b="0">
                <a:solidFill>
                  <a:srgbClr val="45525F"/>
                </a:solidFill>
                <a:latin typeface="Aptos"/>
                <a:ea typeface="PingFang SC"/>
              </a:rPr>
              <a:t>The AI </a:t>
            </a:r>
            <a:r>
              <a:rPr lang="en-US" sz="1800" b="0">
                <a:solidFill>
                  <a:srgbClr val="B4700F"/>
                </a:solidFill>
                <a:latin typeface="Aptos SemiBold"/>
                <a:ea typeface="PingFang SC"/>
              </a:rPr>
              <a:t>draws and writes the code</a:t>
            </a:r>
            <a:r>
              <a:rPr lang="en-US" sz="1800" b="0">
                <a:solidFill>
                  <a:srgbClr val="45525F"/>
                </a:solidFill>
                <a:latin typeface="Aptos"/>
                <a:ea typeface="PingFang SC"/>
              </a:rPr>
              <a:t>; you </a:t>
            </a:r>
            <a:r>
              <a:rPr lang="en-US" sz="1800" b="0">
                <a:solidFill>
                  <a:srgbClr val="B4700F"/>
                </a:solidFill>
                <a:latin typeface="Aptos SemiBold"/>
                <a:ea typeface="PingFang SC"/>
              </a:rPr>
              <a:t>choose and ask for changes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9844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60"/>
              </a:lnSpc>
              <a:spcAft>
                <a:spcPts val="0"/>
              </a:spcAft>
            </a:pPr>
            <a:r>
              <a:rPr lang="en-US" sz="8800" b="0">
                <a:solidFill>
                  <a:srgbClr val="D08A1E"/>
                </a:solidFill>
                <a:latin typeface="Aptos SemiBold"/>
                <a:ea typeface="PingFang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4617720" cy="637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440"/>
              </a:lnSpc>
              <a:spcAft>
                <a:spcPts val="0"/>
              </a:spcAft>
            </a:pPr>
            <a:r>
              <a:rPr lang="en-US" sz="3700" b="0">
                <a:solidFill>
                  <a:srgbClr val="1E2B3A"/>
                </a:solidFill>
                <a:latin typeface="Aptos SemiBold"/>
                <a:ea typeface="PingFang SC"/>
              </a:rPr>
              <a:t>Generate many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590544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3743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Ask the AI for several versions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in very different styles at once,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and compare them side by side</a:t>
            </a:r>
          </a:p>
        </p:txBody>
      </p:sp>
      <p:pic>
        <p:nvPicPr>
          <p:cNvPr id="6" name="Picture 5" descr="style_D_0ec956750c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30000">
            <a:off x="5897880" y="786384"/>
            <a:ext cx="5120640" cy="185623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7" name="Picture 6" descr="style_C_3fe89b805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">
            <a:off x="6172200" y="2004060"/>
            <a:ext cx="5120640" cy="17983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8" name="Picture 7" descr="style_B_6233f79ef8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6446520" y="3151632"/>
            <a:ext cx="5120640" cy="188061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style_A_d6307d751b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6720840" y="4299204"/>
            <a:ext cx="5120640" cy="196291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1 · Generate many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Four versions at once, in clearly different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Fig. 2, round 1: the same problem drawn in four completely different 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yle_A_52eaae8b30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83433"/>
            <a:ext cx="3520339" cy="1447763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685800" y="231866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A</a:t>
            </a:r>
          </a:p>
        </p:txBody>
      </p:sp>
      <p:pic>
        <p:nvPicPr>
          <p:cNvPr id="11" name="Picture 10" descr="style_B_22970faccf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51" y="2483397"/>
            <a:ext cx="3675989" cy="1447835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4480459" y="231866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B</a:t>
            </a:r>
          </a:p>
        </p:txBody>
      </p:sp>
      <p:pic>
        <p:nvPicPr>
          <p:cNvPr id="13" name="Picture 12" descr="style_C_a886041eb8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224448"/>
            <a:ext cx="3652953" cy="1384273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Rounded Rectangle 13"/>
          <p:cNvSpPr/>
          <p:nvPr/>
        </p:nvSpPr>
        <p:spPr>
          <a:xfrm>
            <a:off x="685800" y="405939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C</a:t>
            </a:r>
          </a:p>
        </p:txBody>
      </p:sp>
      <p:pic>
        <p:nvPicPr>
          <p:cNvPr id="15" name="Picture 14" descr="style_D_80f72a734b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665" y="4224938"/>
            <a:ext cx="3543375" cy="1383295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Rounded Rectangle 15"/>
          <p:cNvSpPr/>
          <p:nvPr/>
        </p:nvSpPr>
        <p:spPr>
          <a:xfrm>
            <a:off x="4613073" y="405939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483254"/>
            <a:ext cx="2862072" cy="1069848"/>
          </a:xfrm>
          <a:prstGeom prst="roundRect">
            <a:avLst>
              <a:gd name="adj" fmla="val 11965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2483254"/>
            <a:ext cx="2496312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"/>
                <a:ea typeface="PingFang SC"/>
              </a:rPr>
              <a:t>“Still looks a bit simple…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"/>
                <a:ea typeface="PingFang SC"/>
              </a:rPr>
              <a:t>could you give me a few more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"/>
                <a:ea typeface="PingFang SC"/>
              </a:rPr>
              <a:t>versions to choose from?”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937150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The AI's four versions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302910"/>
            <a:ext cx="28620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B4700F"/>
                </a:solidFill>
                <a:latin typeface="Aptos SemiBold"/>
                <a:ea typeface="PingFang SC"/>
              </a:rPr>
              <a:t>A  </a:t>
            </a:r>
            <a:r>
              <a:rPr lang="en-US" sz="1600" b="0">
                <a:solidFill>
                  <a:srgbClr val="1E2B3A"/>
                </a:solidFill>
                <a:latin typeface="Aptos"/>
                <a:ea typeface="PingFang SC"/>
              </a:rPr>
              <a:t>Engineering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686958"/>
            <a:ext cx="28620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B4700F"/>
                </a:solidFill>
                <a:latin typeface="Aptos SemiBold"/>
                <a:ea typeface="PingFang SC"/>
              </a:rPr>
              <a:t>B  </a:t>
            </a:r>
            <a:r>
              <a:rPr lang="en-US" sz="1600" b="0">
                <a:solidFill>
                  <a:srgbClr val="1E2B3A"/>
                </a:solidFill>
                <a:latin typeface="Aptos"/>
                <a:ea typeface="PingFang SC"/>
              </a:rPr>
              <a:t>Game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071006"/>
            <a:ext cx="28620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B4700F"/>
                </a:solidFill>
                <a:latin typeface="Aptos SemiBold"/>
                <a:ea typeface="PingFang SC"/>
              </a:rPr>
              <a:t>C  </a:t>
            </a:r>
            <a:r>
              <a:rPr lang="en-US" sz="1600" b="0">
                <a:solidFill>
                  <a:srgbClr val="1E2B3A"/>
                </a:solidFill>
                <a:latin typeface="Aptos"/>
                <a:ea typeface="PingFang SC"/>
              </a:rPr>
              <a:t>Math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455054"/>
            <a:ext cx="286207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en-US" sz="1600" b="0">
                <a:solidFill>
                  <a:srgbClr val="B4700F"/>
                </a:solidFill>
                <a:latin typeface="Aptos SemiBold"/>
                <a:ea typeface="PingFang SC"/>
              </a:rPr>
              <a:t>D  </a:t>
            </a:r>
            <a:r>
              <a:rPr lang="en-US" sz="1600" b="0">
                <a:solidFill>
                  <a:srgbClr val="1E2B3A"/>
                </a:solidFill>
                <a:latin typeface="Aptos"/>
                <a:ea typeface="PingFang SC"/>
              </a:rPr>
              <a:t>Timeline swim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1_options_en_1d349eea3229_w1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3872" cy="6858000"/>
          </a:xfrm>
          <a:prstGeom prst="rect">
            <a:avLst/>
          </a:prstGeom>
        </p:spPr>
      </p:pic>
      <p:pic>
        <p:nvPicPr>
          <p:cNvPr id="3" name="Picture 2" descr="fig2_styles_en_18ac7549440e_w12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0"/>
            <a:ext cx="3922776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756648" y="0"/>
            <a:ext cx="243504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wo_levels_proto_93923e67ff02_w7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109728"/>
            <a:ext cx="2435047" cy="2815667"/>
          </a:xfrm>
          <a:prstGeom prst="rect">
            <a:avLst/>
          </a:prstGeom>
        </p:spPr>
      </p:pic>
      <p:pic>
        <p:nvPicPr>
          <p:cNvPr id="6" name="Picture 5" descr="bilevel_proto_b8343f21f0aa_w7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648" y="4313225"/>
            <a:ext cx="2435047" cy="2435047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33872" y="0"/>
            <a:ext cx="0" cy="6858000"/>
          </a:xfrm>
          <a:prstGeom prst="line">
            <a:avLst/>
          </a:prstGeom>
          <a:ln w="952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56648" y="0"/>
            <a:ext cx="0" cy="6858000"/>
          </a:xfrm>
          <a:prstGeom prst="line">
            <a:avLst/>
          </a:prstGeom>
          <a:ln w="9525">
            <a:solidFill>
              <a:srgbClr val="D5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1 · Generate many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Two ways to get styles: images, or drafts drawn by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1692326" cy="40233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89938"/>
            <a:ext cx="1692326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45525F"/>
                </a:solidFill>
                <a:latin typeface="Aptos SemiBold"/>
                <a:ea typeface="PingFang SC"/>
              </a:rPr>
              <a:t>AI draws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886" y="1691640"/>
            <a:ext cx="301683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8592A0"/>
                </a:solidFill>
                <a:latin typeface="Aptos"/>
                <a:ea typeface="PingFang SC"/>
              </a:rPr>
              <a:t>for finding a direction</a:t>
            </a:r>
          </a:p>
        </p:txBody>
      </p:sp>
      <p:pic>
        <p:nvPicPr>
          <p:cNvPr id="12" name="Picture 11" descr="proc_ai_draft_9e59311a8a1f_w1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70" y="2286000"/>
            <a:ext cx="3223260" cy="214884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13" name="Oval 12"/>
          <p:cNvSpPr/>
          <p:nvPr/>
        </p:nvSpPr>
        <p:spPr>
          <a:xfrm>
            <a:off x="978408" y="4681728"/>
            <a:ext cx="137160" cy="137160"/>
          </a:xfrm>
          <a:prstGeom prst="ellipse">
            <a:avLst/>
          </a:prstGeom>
          <a:solidFill>
            <a:srgbClr val="2B8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6177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Several images in seconds; good for a feel</a:t>
            </a:r>
          </a:p>
        </p:txBody>
      </p:sp>
      <p:sp>
        <p:nvSpPr>
          <p:cNvPr id="15" name="Oval 14"/>
          <p:cNvSpPr/>
          <p:nvPr/>
        </p:nvSpPr>
        <p:spPr>
          <a:xfrm>
            <a:off x="978408" y="5047488"/>
            <a:ext cx="137160" cy="137160"/>
          </a:xfrm>
          <a:prstGeom prst="ellipse">
            <a:avLst/>
          </a:prstGeom>
          <a:solidFill>
            <a:srgbClr val="C454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9834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Details are off, and text is often garbled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" y="5413248"/>
            <a:ext cx="137160" cy="137160"/>
          </a:xfrm>
          <a:prstGeom prst="ellipse">
            <a:avLst/>
          </a:prstGeom>
          <a:solidFill>
            <a:srgbClr val="C454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Journals rarely accept them; reference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481328"/>
            <a:ext cx="525780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73952" y="1691640"/>
            <a:ext cx="2256568" cy="40233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789938"/>
            <a:ext cx="2256568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B4700F"/>
                </a:solidFill>
                <a:latin typeface="Aptos SemiBold"/>
                <a:ea typeface="PingFang SC"/>
              </a:rPr>
              <a:t>AI writes code for drafts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7680" y="1691640"/>
            <a:ext cx="24525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8592A0"/>
                </a:solidFill>
                <a:latin typeface="Aptos"/>
                <a:ea typeface="PingFang SC"/>
              </a:rPr>
              <a:t>for final figures</a:t>
            </a:r>
          </a:p>
        </p:txBody>
      </p:sp>
      <p:pic>
        <p:nvPicPr>
          <p:cNvPr id="23" name="Picture 22" descr="proc_accounts_four_80de870fcee1_w15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327291"/>
            <a:ext cx="4800600" cy="2066258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24" name="Oval 23"/>
          <p:cNvSpPr/>
          <p:nvPr/>
        </p:nvSpPr>
        <p:spPr>
          <a:xfrm>
            <a:off x="6537960" y="4681728"/>
            <a:ext cx="137160" cy="137160"/>
          </a:xfrm>
          <a:prstGeom prst="ellipse">
            <a:avLst/>
          </a:prstGeom>
          <a:solidFill>
            <a:srgbClr val="2B8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93992" y="46177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The chosen draft is already code to keep editing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5047488"/>
            <a:ext cx="137160" cy="137160"/>
          </a:xfrm>
          <a:prstGeom prst="ellipse">
            <a:avLst/>
          </a:prstGeom>
          <a:solidFill>
            <a:srgbClr val="2B8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93992" y="49834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Sizes and fonts match the paper from the start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5413248"/>
            <a:ext cx="137160" cy="137160"/>
          </a:xfrm>
          <a:prstGeom prst="ellipse">
            <a:avLst/>
          </a:prstGeom>
          <a:solidFill>
            <a:srgbClr val="C454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93992" y="5349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Slower than drawing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43600"/>
            <a:ext cx="1081735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Approach: </a:t>
            </a:r>
            <a:r>
              <a:rPr lang="en-US" sz="1700" b="0">
                <a:solidFill>
                  <a:srgbClr val="B4700F"/>
                </a:solidFill>
                <a:latin typeface="Aptos SemiBold"/>
                <a:ea typeface="PingFang SC"/>
              </a:rPr>
              <a:t>images first to find a feel</a:t>
            </a: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, then </a:t>
            </a:r>
            <a:r>
              <a:rPr lang="en-US" sz="1700" b="0">
                <a:solidFill>
                  <a:srgbClr val="B4700F"/>
                </a:solidFill>
                <a:latin typeface="Aptos SemiBold"/>
                <a:ea typeface="PingFang SC"/>
              </a:rPr>
              <a:t>code for a few proper drafts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1 · Generate many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Not satisfied? Keep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The band at the bottom of Fig. 3: three versions were not enough, so it went to seven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11680"/>
            <a:ext cx="27432" cy="2743200"/>
          </a:xfrm>
          <a:prstGeom prst="rect">
            <a:avLst/>
          </a:prstGeom>
          <a:solidFill>
            <a:srgbClr val="DDD6C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" y="1965960"/>
            <a:ext cx="246888" cy="246888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1783080"/>
            <a:ext cx="4526280" cy="621792"/>
          </a:xfrm>
          <a:prstGeom prst="roundRect">
            <a:avLst>
              <a:gd name="adj" fmla="val 20588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"/>
                <a:ea typeface="PingFang SC"/>
              </a:rPr>
              <a:t>“It still doesn't look very good”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96312"/>
            <a:ext cx="4526280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→ The AI offered three directions: layered 3-D, flat and simple, step by step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3337560"/>
            <a:ext cx="246888" cy="246888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80160" y="3154680"/>
            <a:ext cx="4526280" cy="621792"/>
          </a:xfrm>
          <a:prstGeom prst="roundRect">
            <a:avLst>
              <a:gd name="adj" fmla="val 20588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"/>
                <a:ea typeface="PingFang SC"/>
              </a:rPr>
              <a:t>“Make a few more styles, then I'll choose”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67912"/>
            <a:ext cx="4526280" cy="240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→ The AI added 4 more: 7 in total (A–G)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4709160"/>
            <a:ext cx="246888" cy="246888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80160" y="4526280"/>
            <a:ext cx="4526280" cy="621792"/>
          </a:xfrm>
          <a:prstGeom prst="roundRect">
            <a:avLst>
              <a:gd name="adj" fmla="val 20588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"/>
                <a:ea typeface="PingFang SC"/>
              </a:rPr>
              <a:t>“They all look pretty ordinary”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39512"/>
            <a:ext cx="4526280" cy="454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→ The AI stopped guessing and asked what feel you want (step 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81328"/>
            <a:ext cx="5330952" cy="4800600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16642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Round 1 · 3 versions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2036733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027589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Layered 3-D</a:t>
            </a:r>
          </a:p>
        </p:txBody>
      </p:sp>
      <p:pic>
        <p:nvPicPr>
          <p:cNvPr id="26" name="Picture 25" descr="strip_A_026f950b_7a3f9eea22d9_w1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1993392"/>
            <a:ext cx="3172968" cy="34271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373368" y="2565779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2556635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Flat and simple</a:t>
            </a:r>
          </a:p>
        </p:txBody>
      </p:sp>
      <p:pic>
        <p:nvPicPr>
          <p:cNvPr id="29" name="Picture 28" descr="strip_B_026f950b_a37d75f34c83_w1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2522438"/>
            <a:ext cx="3172968" cy="342715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6373368" y="3094825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3085681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Step-by-step</a:t>
            </a:r>
          </a:p>
        </p:txBody>
      </p:sp>
      <p:pic>
        <p:nvPicPr>
          <p:cNvPr id="32" name="Picture 31" descr="strip_C_026f950b_1b29d5d3655b_w1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3051483"/>
            <a:ext cx="3172968" cy="3427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73368" y="3671969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Round 2 · 4 more</a:t>
            </a:r>
          </a:p>
        </p:txBody>
      </p:sp>
      <p:sp>
        <p:nvSpPr>
          <p:cNvPr id="34" name="Oval 33"/>
          <p:cNvSpPr/>
          <p:nvPr/>
        </p:nvSpPr>
        <p:spPr>
          <a:xfrm>
            <a:off x="6373368" y="4044495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4035351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Textbook staircase</a:t>
            </a:r>
          </a:p>
        </p:txBody>
      </p:sp>
      <p:pic>
        <p:nvPicPr>
          <p:cNvPr id="36" name="Picture 35" descr="strip_D_026f950b_bc3fd594ffbf_w10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2" y="4001153"/>
            <a:ext cx="3172968" cy="342715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6373368" y="4573540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2" y="4564396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Ridge line</a:t>
            </a:r>
          </a:p>
        </p:txBody>
      </p:sp>
      <p:pic>
        <p:nvPicPr>
          <p:cNvPr id="39" name="Picture 38" descr="strip_E_026f950b_702853ebbca3_w10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530199"/>
            <a:ext cx="3172968" cy="342715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6373368" y="5102586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2552" y="5093442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Card conveyor</a:t>
            </a:r>
          </a:p>
        </p:txBody>
      </p:sp>
      <p:pic>
        <p:nvPicPr>
          <p:cNvPr id="42" name="Picture 41" descr="strip_F_026f950b_be0c53a12f87_w10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5059245"/>
            <a:ext cx="3172968" cy="342715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6373368" y="5631632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552" y="5622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1E2B3A"/>
                </a:solidFill>
                <a:latin typeface="Aptos"/>
                <a:ea typeface="PingFang SC"/>
              </a:rPr>
              <a:t>Minimal line art</a:t>
            </a:r>
          </a:p>
        </p:txBody>
      </p:sp>
      <p:pic>
        <p:nvPicPr>
          <p:cNvPr id="45" name="Picture 44" descr="strip_G_026f950b_679c8307bf7f_w10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2" y="5588290"/>
            <a:ext cx="3172968" cy="3427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9844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60"/>
              </a:lnSpc>
              <a:spcAft>
                <a:spcPts val="0"/>
              </a:spcAft>
            </a:pPr>
            <a:r>
              <a:rPr lang="en-US" sz="8800" b="0">
                <a:solidFill>
                  <a:srgbClr val="D08A1E"/>
                </a:solidFill>
                <a:latin typeface="Aptos SemiBold"/>
                <a:ea typeface="PingFang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4617720" cy="6522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</a:pPr>
            <a:r>
              <a:rPr lang="en-US" sz="3800" b="0">
                <a:solidFill>
                  <a:srgbClr val="1E2B3A"/>
                </a:solidFill>
                <a:latin typeface="Aptos SemiBold"/>
                <a:ea typeface="PingFang SC"/>
              </a:rPr>
              <a:t>Pick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605784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5267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Ask yourself four questions;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if you can't say what you want,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let the AI offer options, or give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it a reference image</a:t>
            </a:r>
          </a:p>
        </p:txBody>
      </p:sp>
      <p:pic>
        <p:nvPicPr>
          <p:cNvPr id="6" name="Picture 5" descr="fig1_opt_A_a8d250a1fb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78" y="776427"/>
            <a:ext cx="2409444" cy="2561947"/>
          </a:xfrm>
          <a:prstGeom prst="rect">
            <a:avLst/>
          </a:prstGeom>
          <a:ln w="31750">
            <a:solidFill>
              <a:srgbClr val="D08A1E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7" name="Picture 6" descr="fig1_opt_B_dim_bf76b9428e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800100"/>
            <a:ext cx="2514600" cy="251460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8" name="Picture 7" descr="fig1_opt_C_dim_e04799cd9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147" y="3519882"/>
            <a:ext cx="2454707" cy="256143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fig1_opt_D_dim_77b2c83608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978" y="3520159"/>
            <a:ext cx="2506005" cy="256088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6355080" y="502107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76783"/>
            <a:ext cx="960120" cy="216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FFFFFF"/>
                </a:solidFill>
                <a:latin typeface="Aptos SemiBold"/>
                <a:ea typeface="PingFang SC"/>
              </a:rPr>
              <a:t>Chosen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2 · Pick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Ask four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FFFFFF"/>
                </a:solidFill>
                <a:latin typeface="Aptos SemiBold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680972"/>
            <a:ext cx="3904488" cy="277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1E2B3A"/>
                </a:solidFill>
                <a:latin typeface="Aptos SemiBold"/>
                <a:ea typeface="PingFang SC"/>
              </a:rPr>
              <a:t>Is the message clear at a glance?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76628"/>
            <a:ext cx="390448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One look shows the main subject and which way to read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87396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FFFFFF"/>
                </a:solidFill>
                <a:latin typeface="Aptos SemiBold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868168"/>
            <a:ext cx="3904488" cy="277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1E2B3A"/>
                </a:solidFill>
                <a:latin typeface="Aptos SemiBold"/>
                <a:ea typeface="PingFang SC"/>
              </a:rPr>
              <a:t>Is it distinct from the other figures?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163824"/>
            <a:ext cx="390448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All four Fig. 2 versions avoid elements of the framework figure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74592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FFFFFF"/>
                </a:solidFill>
                <a:latin typeface="Aptos SemiBold"/>
                <a:ea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055364"/>
            <a:ext cx="3904488" cy="277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1E2B3A"/>
                </a:solidFill>
                <a:latin typeface="Aptos SemiBold"/>
                <a:ea typeface="PingFang SC"/>
              </a:rPr>
              <a:t>Does it look like an ‘AI figure’?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351020"/>
            <a:ext cx="390448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Cartoon icons, flashy gradients and glow effects are giveaways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161788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FFFFFF"/>
                </a:solidFill>
                <a:latin typeface="Aptos SemiBold"/>
                <a:ea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5242560"/>
            <a:ext cx="3904488" cy="277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1E2B3A"/>
                </a:solidFill>
                <a:latin typeface="Aptos SemiBold"/>
                <a:ea typeface="PingFang SC"/>
              </a:rPr>
              <a:t>Is it legible at print size?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5538216"/>
            <a:ext cx="3904488" cy="445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View it at final size: no text smaller than 7 pt</a:t>
            </a:r>
          </a:p>
        </p:txBody>
      </p:sp>
      <p:pic>
        <p:nvPicPr>
          <p:cNvPr id="20" name="Picture 19" descr="proc_three_parts_63ea338083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700712"/>
            <a:ext cx="6483096" cy="524626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1" name="TextBox 20"/>
          <p:cNvSpPr txBox="1"/>
          <p:nvPr/>
        </p:nvSpPr>
        <p:spPr>
          <a:xfrm>
            <a:off x="5404104" y="6080760"/>
            <a:ext cx="64830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8592A0"/>
                </a:solidFill>
                <a:latin typeface="Aptos"/>
                <a:ea typeface="PingFang SC"/>
              </a:rPr>
              <a:t>Left: cartoon icons look AI-made    Right: abstract, consistent with the 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2 · Pick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Can't say what you like? Let the AI offer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Bottom of Fig. 3, after saying “not pretty” three times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95681" y="1719072"/>
            <a:ext cx="277943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8592A0"/>
                </a:solidFill>
                <a:latin typeface="Aptos"/>
                <a:ea typeface="PingFang SC"/>
              </a:rPr>
              <a:t>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95681" y="1956816"/>
            <a:ext cx="2779439" cy="457200"/>
          </a:xfrm>
          <a:prstGeom prst="roundRect">
            <a:avLst>
              <a:gd name="adj" fmla="val 32000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681" y="1956816"/>
            <a:ext cx="277943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1E2B3A"/>
                </a:solidFill>
                <a:latin typeface="Aptos"/>
                <a:ea typeface="PingFang SC"/>
              </a:rPr>
              <a:t>They all look pretty ordinary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615184"/>
            <a:ext cx="402336" cy="402336"/>
          </a:xfrm>
          <a:prstGeom prst="ellipse">
            <a:avLst/>
          </a:prstGeom>
          <a:solidFill>
            <a:srgbClr val="1621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</a:pPr>
            <a:r>
              <a:rPr lang="en-US" sz="1200" b="0">
                <a:solidFill>
                  <a:srgbClr val="FFFFFF"/>
                </a:solidFill>
                <a:latin typeface="Aptos SemiBold"/>
                <a:ea typeface="PingFang SC"/>
              </a:rPr>
              <a:t>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615184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77063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B4700F"/>
                </a:solidFill>
                <a:latin typeface="Aptos SemiBold"/>
                <a:ea typeface="PingFang SC"/>
              </a:rPr>
              <a:t>The AI asks; you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35808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 SemiBold"/>
                <a:ea typeface="PingFang SC"/>
              </a:rPr>
              <a:t>Before making one focused version, I'd like to know what kind of ‘not ordinary’ you mean. Which is closest?</a:t>
            </a:r>
          </a:p>
        </p:txBody>
      </p:sp>
      <p:sp>
        <p:nvSpPr>
          <p:cNvPr id="16" name="Oval 15"/>
          <p:cNvSpPr/>
          <p:nvPr/>
        </p:nvSpPr>
        <p:spPr>
          <a:xfrm>
            <a:off x="1508760" y="3744468"/>
            <a:ext cx="128016" cy="128016"/>
          </a:xfrm>
          <a:prstGeom prst="ellipse">
            <a:avLst/>
          </a:prstGeom>
          <a:solidFill>
            <a:srgbClr val="CDD2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46504" y="36758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As rich as the three panels above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9888" y="3986784"/>
            <a:ext cx="5129784" cy="347472"/>
          </a:xfrm>
          <a:prstGeom prst="roundRect">
            <a:avLst>
              <a:gd name="adj" fmla="val 26315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03250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</a:pPr>
            <a:r>
              <a:rPr lang="en-US" sz="1200" b="0">
                <a:solidFill>
                  <a:srgbClr val="B4700F"/>
                </a:solidFill>
                <a:latin typeface="Aptos SemiBold"/>
                <a:ea typeface="PingFang SC"/>
              </a:rPr>
              <a:t>← I clicked this</a:t>
            </a:r>
          </a:p>
        </p:txBody>
      </p:sp>
      <p:sp>
        <p:nvSpPr>
          <p:cNvPr id="20" name="Oval 19"/>
          <p:cNvSpPr/>
          <p:nvPr/>
        </p:nvSpPr>
        <p:spPr>
          <a:xfrm>
            <a:off x="1508760" y="4101084"/>
            <a:ext cx="128016" cy="128016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46504" y="403250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1E2B3A"/>
                </a:solidFill>
                <a:latin typeface="Aptos SemiBold"/>
                <a:ea typeface="PingFang SC"/>
              </a:rPr>
              <a:t>One large 3-D mathematical figure</a:t>
            </a:r>
          </a:p>
        </p:txBody>
      </p:sp>
      <p:sp>
        <p:nvSpPr>
          <p:cNvPr id="22" name="Oval 21"/>
          <p:cNvSpPr/>
          <p:nvPr/>
        </p:nvSpPr>
        <p:spPr>
          <a:xfrm>
            <a:off x="1508760" y="4457700"/>
            <a:ext cx="128016" cy="128016"/>
          </a:xfrm>
          <a:prstGeom prst="ellipse">
            <a:avLst/>
          </a:prstGeom>
          <a:solidFill>
            <a:srgbClr val="CDD2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46504" y="43891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39"/>
              </a:lnSpc>
              <a:spcAft>
                <a:spcPts val="0"/>
              </a:spcAft>
            </a:pPr>
            <a:r>
              <a:rPr lang="en-US" sz="1450" b="0">
                <a:solidFill>
                  <a:srgbClr val="45525F"/>
                </a:solidFill>
                <a:latin typeface="Aptos"/>
                <a:ea typeface="PingFang SC"/>
              </a:rPr>
              <a:t>I have a reference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103120"/>
            <a:ext cx="4325112" cy="697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lang="en-US" sz="2200" b="0">
                <a:solidFill>
                  <a:srgbClr val="1E2B3A"/>
                </a:solidFill>
                <a:latin typeface="Aptos SemiBold"/>
                <a:ea typeface="PingFang SC"/>
              </a:rPr>
              <a:t>Can't describe the feel you want?</a:t>
            </a:r>
          </a:p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lang="en-US" sz="2200" b="0">
                <a:solidFill>
                  <a:srgbClr val="1E2B3A"/>
                </a:solidFill>
                <a:latin typeface="Aptos SemiBold"/>
                <a:ea typeface="PingFang SC"/>
              </a:rPr>
              <a:t>Let the AI give you options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95656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45525F"/>
                </a:solidFill>
                <a:latin typeface="Aptos"/>
                <a:ea typeface="PingFang SC"/>
              </a:rPr>
              <a:t>You click once, and the AI focuses on that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526280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B4700F"/>
                </a:solidFill>
                <a:latin typeface="Aptos SemiBold"/>
                <a:ea typeface="PingFang SC"/>
              </a:rPr>
              <a:t>↓  The bottom of Fig. 3, made in this direction</a:t>
            </a:r>
          </a:p>
        </p:txBody>
      </p:sp>
      <p:pic>
        <p:nvPicPr>
          <p:cNvPr id="27" name="Picture 26" descr="fig3_band_d8df9d4e_7e237e27c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91991"/>
            <a:ext cx="10817352" cy="113628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2 · Pick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Or simply give it a reference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Fig. 1: “It still doesn't look great. You could use Apple's liquid-glass effect as a reference.”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lass_ref_798b7a1c5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41" y="2103120"/>
            <a:ext cx="3063240" cy="306324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749541" y="533095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45525F"/>
                </a:solidFill>
                <a:latin typeface="Aptos"/>
                <a:ea typeface="PingFang SC"/>
              </a:rPr>
              <a:t>Reference image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3995661" y="3470148"/>
            <a:ext cx="182880" cy="329184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ass_zoom_before_1d1aaee63e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421" y="2103120"/>
            <a:ext cx="3426922" cy="306324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361421" y="5330952"/>
            <a:ext cx="342692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45525F"/>
                </a:solidFill>
                <a:latin typeface="Aptos"/>
                <a:ea typeface="PingFang SC"/>
              </a:rPr>
              <a:t>Before: just translucent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421" y="5678424"/>
            <a:ext cx="342692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8592A0"/>
                </a:solidFill>
                <a:latin typeface="Aptos"/>
                <a:ea typeface="PingFang SC"/>
              </a:rPr>
              <a:t>The lines behind stay sharp; no sense of glass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421" y="1645920"/>
            <a:ext cx="1584960" cy="31089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421" y="1706118"/>
            <a:ext cx="1584960" cy="2087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Fig. 1, zoomed in</a:t>
            </a:r>
          </a:p>
        </p:txBody>
      </p:sp>
      <p:pic>
        <p:nvPicPr>
          <p:cNvPr id="17" name="Picture 16" descr="glass_zoom_after_fa78c71a0c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943" y="2103314"/>
            <a:ext cx="3422469" cy="3062853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8016943" y="5330952"/>
            <a:ext cx="342246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1E2B3A"/>
                </a:solidFill>
                <a:latin typeface="Aptos SemiBold"/>
                <a:ea typeface="PingFang SC"/>
              </a:rPr>
              <a:t>After: frosted, with bright edges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6943" y="5678424"/>
            <a:ext cx="3422469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8592A0"/>
                </a:solidFill>
                <a:latin typeface="Aptos"/>
                <a:ea typeface="PingFang SC"/>
              </a:rPr>
              <a:t>The paths behind blur through the glass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0888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60"/>
              </a:lnSpc>
              <a:spcAft>
                <a:spcPts val="0"/>
              </a:spcAft>
            </a:pPr>
            <a:r>
              <a:rPr lang="en-US" sz="8800" b="0">
                <a:solidFill>
                  <a:srgbClr val="D08A1E"/>
                </a:solidFill>
                <a:latin typeface="Aptos SemiBold"/>
                <a:ea typeface="PingFang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99360"/>
            <a:ext cx="4617720" cy="1231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</a:pPr>
            <a:r>
              <a:rPr lang="en-US" sz="3800" b="0">
                <a:solidFill>
                  <a:srgbClr val="1E2B3A"/>
                </a:solidFill>
                <a:latin typeface="Aptos SemiBold"/>
                <a:ea typeface="PingFang SC"/>
              </a:rPr>
              <a:t>Draw components</a:t>
            </a:r>
          </a:p>
          <a:p>
            <a:pPr algn="l">
              <a:lnSpc>
                <a:spcPts val="4560"/>
              </a:lnSpc>
              <a:spcAft>
                <a:spcPts val="0"/>
              </a:spcAft>
            </a:pPr>
            <a:r>
              <a:rPr lang="en-US" sz="3800" b="0">
                <a:solidFill>
                  <a:srgbClr val="1E2B3A"/>
                </a:solidFill>
                <a:latin typeface="Aptos SemiBold"/>
                <a:ea typeface="PingFang SC"/>
              </a:rPr>
              <a:t>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895344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4223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Split the chosen version into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small components, one piece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of code each</a:t>
            </a:r>
          </a:p>
        </p:txBody>
      </p:sp>
      <p:pic>
        <p:nvPicPr>
          <p:cNvPr id="6" name="Picture 5" descr="part_fig3_01_adder_signal_1_17e1643291_b7a3b34cee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669280" y="685515"/>
            <a:ext cx="2651760" cy="119481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7" name="Picture 6" descr="part_fig3_10_surrogate_search_1_5995d217ad_62426e865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">
            <a:off x="8503920" y="548414"/>
            <a:ext cx="3063240" cy="132588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8" name="Picture 7" descr="part_fig3_12_ranked_signals_1_f07eb97627_58b0c4c974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5806440" y="2102511"/>
            <a:ext cx="2240280" cy="14173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part_fig3_04_learned_surface_ev_3_c0c604d665_f82a822b71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8229600" y="2149102"/>
            <a:ext cx="1691640" cy="158191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0" name="Picture 9" descr="part_fig3_08_every_sampled_draw_1_7a7b942b84_176ba0ecd6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10058400" y="2103745"/>
            <a:ext cx="1554480" cy="16459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1" name="Picture 10" descr="part_fig3_03_response_archive_1_850875151f_b95ac2adf1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10000">
            <a:off x="5669280" y="4023157"/>
            <a:ext cx="2834640" cy="98450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2" name="Picture 11" descr="part_fig3_07_feeder_1_48c0a6bccc_4b524e1803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">
            <a:off x="8686800" y="3886200"/>
            <a:ext cx="2697480" cy="137315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3" name="Picture 12" descr="part_fig3_13_hourly_operation_1_f4b42ce229_14bda0828f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40000">
            <a:off x="5760720" y="5440698"/>
            <a:ext cx="5806440" cy="64922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First, split Fig. 3 into 13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3_parts_1530888ff8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3609"/>
            <a:ext cx="7635240" cy="471203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Oval 8"/>
          <p:cNvSpPr/>
          <p:nvPr/>
        </p:nvSpPr>
        <p:spPr>
          <a:xfrm>
            <a:off x="8549640" y="169849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42248" y="1645920"/>
            <a:ext cx="266090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One component, one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952244"/>
            <a:ext cx="266090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Drawn with matplotlib: 13 components, 13 pieces of code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0" y="281559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42248" y="2763012"/>
            <a:ext cx="266090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Canvas = its print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2248" y="3069336"/>
            <a:ext cx="266090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Coordinates in mm, so line widths and font sizes are as printed</a:t>
            </a:r>
          </a:p>
        </p:txBody>
      </p:sp>
      <p:sp>
        <p:nvSpPr>
          <p:cNvPr id="15" name="Oval 14"/>
          <p:cNvSpPr/>
          <p:nvPr/>
        </p:nvSpPr>
        <p:spPr>
          <a:xfrm>
            <a:off x="8549640" y="3932682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2248" y="3880104"/>
            <a:ext cx="266090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Boxes, titles, arrows: 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4186428"/>
            <a:ext cx="2660904" cy="445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They are drawn in PPT in 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Each component is a separate small figure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3_01_adder_signal_1_17e1643291_adef32bd6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77818"/>
            <a:ext cx="3382682" cy="156379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85800" y="201322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1</a:t>
            </a:r>
          </a:p>
        </p:txBody>
      </p:sp>
      <p:pic>
        <p:nvPicPr>
          <p:cNvPr id="10" name="Picture 9" descr="part_fig3_02_aggregator_ev_3_7cd28d1bab_2432918029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394" y="2177479"/>
            <a:ext cx="2269021" cy="1564475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4342802" y="201322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2</a:t>
            </a:r>
          </a:p>
        </p:txBody>
      </p:sp>
      <p:pic>
        <p:nvPicPr>
          <p:cNvPr id="12" name="Picture 11" descr="part_fig3_03_response_archive_1_850875151f_8ef0caa00b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735" y="2177818"/>
            <a:ext cx="4452417" cy="156379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6886143" y="201322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3</a:t>
            </a:r>
          </a:p>
        </p:txBody>
      </p:sp>
      <p:pic>
        <p:nvPicPr>
          <p:cNvPr id="14" name="Picture 13" descr="part_fig3_04_learned_surface_ev_3_c0c604d665_38508284f9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033871"/>
            <a:ext cx="1905523" cy="1789662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Rounded Rectangle 14"/>
          <p:cNvSpPr/>
          <p:nvPr/>
        </p:nvSpPr>
        <p:spPr>
          <a:xfrm>
            <a:off x="685800" y="3869631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4</a:t>
            </a:r>
          </a:p>
        </p:txBody>
      </p:sp>
      <p:pic>
        <p:nvPicPr>
          <p:cNvPr id="16" name="Picture 15" descr="part_fig3_05_random_features_1_89bee01fee_61666a1869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0235" y="4034223"/>
            <a:ext cx="4745318" cy="178895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2865643" y="3869631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5</a:t>
            </a:r>
          </a:p>
        </p:txBody>
      </p:sp>
      <p:pic>
        <p:nvPicPr>
          <p:cNvPr id="18" name="Picture 17" descr="part_fig3_06_posterior_1_1eb629a73b_9bc606064e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873" y="4034223"/>
            <a:ext cx="3453279" cy="178895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7885281" y="3869631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Change one, redraw only that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3_07_feeder_1_48c0a6bccc_a9d2dd88e0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0" y="1691640"/>
            <a:ext cx="3209330" cy="167626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1021948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7</a:t>
            </a:r>
          </a:p>
        </p:txBody>
      </p:sp>
      <p:pic>
        <p:nvPicPr>
          <p:cNvPr id="10" name="Picture 9" descr="part_fig3_08_every_sampled_draw_1_7a7b942b84_2f980df10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90" y="1691281"/>
            <a:ext cx="1588551" cy="167697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4505598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8</a:t>
            </a:r>
          </a:p>
        </p:txBody>
      </p:sp>
      <p:pic>
        <p:nvPicPr>
          <p:cNvPr id="12" name="Picture 11" descr="part_fig3_09_posterior_sampling_1_9cf7c79f5b_14357615f5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60" y="1691640"/>
            <a:ext cx="4633944" cy="167626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6368468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9</a:t>
            </a:r>
          </a:p>
        </p:txBody>
      </p:sp>
      <p:pic>
        <p:nvPicPr>
          <p:cNvPr id="14" name="Picture 13" descr="part_fig3_10_surrogate_search_1_5995d217ad_d14eb8e8c9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540" y="3642097"/>
            <a:ext cx="2787821" cy="127971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Rounded Rectangle 14"/>
          <p:cNvSpPr/>
          <p:nvPr/>
        </p:nvSpPr>
        <p:spPr>
          <a:xfrm>
            <a:off x="1021948" y="347762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10</a:t>
            </a:r>
          </a:p>
        </p:txBody>
      </p:sp>
      <p:pic>
        <p:nvPicPr>
          <p:cNvPr id="16" name="Picture 15" descr="part_fig3_11_candidate_batch_1_eb49fb7982_6b17151d118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681" y="3642221"/>
            <a:ext cx="4700263" cy="127946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4084089" y="347762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11</a:t>
            </a:r>
          </a:p>
        </p:txBody>
      </p:sp>
      <p:pic>
        <p:nvPicPr>
          <p:cNvPr id="18" name="Picture 17" descr="part_fig3_12_ranked_signals_1_f07eb97627_d81cea38b9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3264" y="3642142"/>
            <a:ext cx="1943741" cy="127962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9058672" y="347762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12</a:t>
            </a:r>
          </a:p>
        </p:txBody>
      </p:sp>
      <p:pic>
        <p:nvPicPr>
          <p:cNvPr id="20" name="Picture 19" descr="part_fig3_13_hourly_operation_1_f4b42ce229_ebaa8b1f92b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731" y="5196374"/>
            <a:ext cx="9904083" cy="111262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1" name="Rounded Rectangle 20"/>
          <p:cNvSpPr/>
          <p:nvPr/>
        </p:nvSpPr>
        <p:spPr>
          <a:xfrm>
            <a:off x="1060139" y="503141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</a:pPr>
            <a:r>
              <a:rPr lang="en-US" sz="1100" b="0">
                <a:solidFill>
                  <a:srgbClr val="FFFFFF"/>
                </a:solidFill>
                <a:latin typeface="Aptos SemiBold"/>
                <a:ea typeface="PingFang SC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3-D look: oblique projection + three shades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Used for the heat-map slab, the archive cards, the pillar field and the ranked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cube_1_e95c23c86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4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3246120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① Floor and grid</a:t>
            </a:r>
          </a:p>
        </p:txBody>
      </p:sp>
      <p:pic>
        <p:nvPicPr>
          <p:cNvPr id="11" name="Picture 10" descr="teach_cube_2_411fe2b92f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6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2903220" y="3246120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② Cast shadow</a:t>
            </a:r>
          </a:p>
        </p:txBody>
      </p:sp>
      <p:pic>
        <p:nvPicPr>
          <p:cNvPr id="13" name="Picture 12" descr="teach_cube_3_e52b3ab3c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28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120640" y="3246120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③ Right face: darker</a:t>
            </a:r>
          </a:p>
        </p:txBody>
      </p:sp>
      <p:pic>
        <p:nvPicPr>
          <p:cNvPr id="15" name="Picture 14" descr="teach_cube_4_9f3a418e42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70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38060" y="3246120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④ Front face: base colour</a:t>
            </a:r>
          </a:p>
        </p:txBody>
      </p:sp>
      <p:pic>
        <p:nvPicPr>
          <p:cNvPr id="17" name="Picture 16" descr="teach_cube_5_a66ebbd305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12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9555480" y="3246120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1E2B3A"/>
                </a:solidFill>
                <a:latin typeface="Aptos"/>
                <a:ea typeface="PingFang SC"/>
              </a:rPr>
              <a:t>⑤ Top: lighter, bright edge</a:t>
            </a:r>
          </a:p>
        </p:txBody>
      </p:sp>
      <p:pic>
        <p:nvPicPr>
          <p:cNvPr id="19" name="Picture 18" descr="code_pi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10304"/>
            <a:ext cx="6812280" cy="229905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0" name="Oval 19"/>
          <p:cNvSpPr/>
          <p:nvPr/>
        </p:nvSpPr>
        <p:spPr>
          <a:xfrm>
            <a:off x="7818120" y="398449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8" y="3931920"/>
            <a:ext cx="33924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No 3-D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4238244"/>
            <a:ext cx="3392424" cy="871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Each face is a polygon of four computed corners, drawn back to front so nearer faces cover farther ones</a:t>
            </a:r>
          </a:p>
        </p:txBody>
      </p:sp>
      <p:sp>
        <p:nvSpPr>
          <p:cNvPr id="23" name="Oval 22"/>
          <p:cNvSpPr/>
          <p:nvPr/>
        </p:nvSpPr>
        <p:spPr>
          <a:xfrm>
            <a:off x="7818120" y="5205222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8" y="5152644"/>
            <a:ext cx="33924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Three shades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5458968"/>
            <a:ext cx="33924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One base colour: mix white into the top and black into the side, then add a soft shadow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Heat-map slab: colour by value, then add thickness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Component 1: the adder signal at the top left of Fig.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heat_1_9c589b7b0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76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301752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① Top: colour each cell by value</a:t>
            </a:r>
          </a:p>
        </p:txBody>
      </p:sp>
      <p:pic>
        <p:nvPicPr>
          <p:cNvPr id="11" name="Picture 10" descr="teach_heat_2_7155fa9e29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20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438144" y="301752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② Front: extrude the slab</a:t>
            </a:r>
          </a:p>
        </p:txBody>
      </p:sp>
      <p:pic>
        <p:nvPicPr>
          <p:cNvPr id="13" name="Picture 12" descr="teach_heat_3_30796c517b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64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190488" y="301752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③ Right side: darker still</a:t>
            </a:r>
          </a:p>
        </p:txBody>
      </p:sp>
      <p:pic>
        <p:nvPicPr>
          <p:cNvPr id="15" name="Picture 14" descr="teach_heat_4_d855ed976f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08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942832" y="301752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④ Arrows with text replace axes</a:t>
            </a:r>
          </a:p>
        </p:txBody>
      </p:sp>
      <p:pic>
        <p:nvPicPr>
          <p:cNvPr id="17" name="Picture 16" descr="code_h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35587"/>
            <a:ext cx="6355080" cy="2573773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Oval 17"/>
          <p:cNvSpPr/>
          <p:nvPr/>
        </p:nvSpPr>
        <p:spPr>
          <a:xfrm>
            <a:off x="7360920" y="375589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3703320"/>
            <a:ext cx="38496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A flat heat map takes one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4009644"/>
            <a:ext cx="3849624" cy="445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Consolas"/>
                <a:ea typeface="PingFang SC"/>
              </a:rPr>
              <a:t>ax.imshow(A, cmap=cmap)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549902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53528" y="4497324"/>
            <a:ext cx="38496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Drawn obliquely, with thickness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4803648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To match the other 3-D parts: the top coloured by value, the front 18% darker, the side 30% darker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Surfaces: sample a function, tile small patches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The three response surfaces of component 4, and the decision surface of component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surface_1_777b161159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288036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① Floor and grid</a:t>
            </a:r>
          </a:p>
        </p:txBody>
      </p:sp>
      <p:pic>
        <p:nvPicPr>
          <p:cNvPr id="11" name="Picture 10" descr="teach_surface_2_69ae0315e4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438144" y="288036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② Translucent patches</a:t>
            </a:r>
          </a:p>
        </p:txBody>
      </p:sp>
      <p:pic>
        <p:nvPicPr>
          <p:cNvPr id="13" name="Picture 12" descr="teach_surface_3_c532ee65e5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190488" y="288036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③ Add grid lines</a:t>
            </a:r>
          </a:p>
        </p:txBody>
      </p:sp>
      <p:pic>
        <p:nvPicPr>
          <p:cNvPr id="15" name="Picture 14" descr="teach_surface_4_7c1712ff58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942832" y="2880360"/>
            <a:ext cx="2560320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④ Front edge, dashes, samples</a:t>
            </a:r>
          </a:p>
        </p:txBody>
      </p:sp>
      <p:pic>
        <p:nvPicPr>
          <p:cNvPr id="17" name="Picture 16" descr="code_surf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678803"/>
            <a:ext cx="6400800" cy="2630557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Oval 17"/>
          <p:cNvSpPr/>
          <p:nvPr/>
        </p:nvSpPr>
        <p:spPr>
          <a:xfrm>
            <a:off x="7360920" y="366445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3611880"/>
            <a:ext cx="38496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Height is a simple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3918204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Sines and Gaussians are enough; a schematic shows no values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61695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53528" y="4564380"/>
            <a:ext cx="38496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Translucent patches, back to 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4870704"/>
            <a:ext cx="3849624" cy="445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Then the grid lines and a thick line along the front</a:t>
            </a:r>
          </a:p>
        </p:txBody>
      </p:sp>
      <p:sp>
        <p:nvSpPr>
          <p:cNvPr id="24" name="Oval 23"/>
          <p:cNvSpPr/>
          <p:nvPr/>
        </p:nvSpPr>
        <p:spPr>
          <a:xfrm>
            <a:off x="7360920" y="535609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53528" y="5303520"/>
            <a:ext cx="384962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The decision surface adds lighting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5609844"/>
            <a:ext cx="38496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Each patch is shaded by the angle between its normal and the 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Fig. 1: three components, stacked bottom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1_01_floor_1_62eadcbf7f_29f46a4ec6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68" y="1692005"/>
            <a:ext cx="3499046" cy="1828772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1719976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1</a:t>
            </a:r>
          </a:p>
        </p:txBody>
      </p:sp>
      <p:pic>
        <p:nvPicPr>
          <p:cNvPr id="10" name="Picture 9" descr="part_fig1_02_glass_scene_1_b7d78dd39b_ecdd27dcff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31627"/>
            <a:ext cx="2347070" cy="2523863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685800" y="366744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2</a:t>
            </a:r>
          </a:p>
        </p:txBody>
      </p:sp>
      <p:pic>
        <p:nvPicPr>
          <p:cNvPr id="12" name="Picture 11" descr="part_fig1_03_upper_level_1_1daa093c5b_f78f0dfe1e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782" y="3832280"/>
            <a:ext cx="2946008" cy="25225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3307190" y="366744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3</a:t>
            </a:r>
          </a:p>
        </p:txBody>
      </p:sp>
      <p:pic>
        <p:nvPicPr>
          <p:cNvPr id="14" name="Picture 13" descr="part_fig1_04_full_1_e2204110b8_ff19acd24a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750" y="1690926"/>
            <a:ext cx="4262402" cy="4664868"/>
          </a:xfrm>
          <a:prstGeom prst="rect">
            <a:avLst/>
          </a:prstGeom>
          <a:ln w="19050">
            <a:solidFill>
              <a:srgbClr val="D08A1E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Chevron 14"/>
          <p:cNvSpPr/>
          <p:nvPr/>
        </p:nvSpPr>
        <p:spPr>
          <a:xfrm>
            <a:off x="6737830" y="3840480"/>
            <a:ext cx="182880" cy="36576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Glass: not drawn, but image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9"/>
              </a:lnSpc>
              <a:spcAft>
                <a:spcPts val="0"/>
              </a:spcAft>
            </a:pPr>
            <a:r>
              <a:rPr lang="en-US" sz="1550" b="0">
                <a:solidFill>
                  <a:srgbClr val="45525F"/>
                </a:solidFill>
                <a:latin typeface="Aptos"/>
                <a:ea typeface="PingFang SC"/>
              </a:rPr>
              <a:t>Component 2 of Fig. 1: render what lies behind as an image, then process it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glass_1_left_a27f052c_1029346aa8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4261"/>
            <a:ext cx="1947672" cy="118464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3081528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① What lies behind</a:t>
            </a:r>
          </a:p>
        </p:txBody>
      </p:sp>
      <p:pic>
        <p:nvPicPr>
          <p:cNvPr id="11" name="Picture 10" descr="teach_glass_2_left_a27f052c_7e97aad61c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794261"/>
            <a:ext cx="1947672" cy="118464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2903220" y="3081528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② Blur: frosting</a:t>
            </a:r>
          </a:p>
        </p:txBody>
      </p:sp>
      <p:pic>
        <p:nvPicPr>
          <p:cNvPr id="13" name="Picture 12" descr="teach_glass_3_left_a27f052c_5b26006299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94261"/>
            <a:ext cx="1947672" cy="118464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120640" y="3081528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③ Edge refraction</a:t>
            </a:r>
          </a:p>
        </p:txBody>
      </p:sp>
      <p:pic>
        <p:nvPicPr>
          <p:cNvPr id="15" name="Picture 14" descr="teach_glass_4_left_a27f052c_0281c256e2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794261"/>
            <a:ext cx="1947672" cy="118464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38060" y="3081528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④ Brighten, tint</a:t>
            </a:r>
          </a:p>
        </p:txBody>
      </p:sp>
      <p:pic>
        <p:nvPicPr>
          <p:cNvPr id="17" name="Picture 16" descr="teach_glass_5_left_a27f052c_7d609adcbd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1794261"/>
            <a:ext cx="1947672" cy="118464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9555480" y="3081528"/>
            <a:ext cx="1947672" cy="225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</a:pPr>
            <a:r>
              <a:rPr lang="en-US" sz="1300" b="0">
                <a:solidFill>
                  <a:srgbClr val="45525F"/>
                </a:solidFill>
                <a:latin typeface="Aptos"/>
                <a:ea typeface="PingFang SC"/>
              </a:rPr>
              <a:t>⑤ Highlights, thin lines</a:t>
            </a:r>
          </a:p>
        </p:txBody>
      </p:sp>
      <p:pic>
        <p:nvPicPr>
          <p:cNvPr id="19" name="Picture 18" descr="code_g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097390"/>
            <a:ext cx="6812280" cy="221197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0" name="Oval 19"/>
          <p:cNvSpPr/>
          <p:nvPr/>
        </p:nvSpPr>
        <p:spPr>
          <a:xfrm>
            <a:off x="7909560" y="3755898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3703320"/>
            <a:ext cx="330098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Seven panes, back to front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009644"/>
            <a:ext cx="3300984" cy="871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Each new pane treats the current image as its ‘background’, so the panes show through one another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4976622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8" y="4924044"/>
            <a:ext cx="3300984" cy="269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The only bitmap in the 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5230368"/>
            <a:ext cx="3300984" cy="445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lang="en-US" sz="1400" b="0">
                <a:solidFill>
                  <a:srgbClr val="45525F"/>
                </a:solidFill>
                <a:latin typeface="Aptos"/>
                <a:ea typeface="PingFang SC"/>
              </a:rPr>
              <a:t>600 dpi; everything else is 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3 · Draw components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Fig. 2: the terrain is 58,081 small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2_01_game_1_f62914a9ba_a3c828c7f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21" y="1692355"/>
            <a:ext cx="4025602" cy="73446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878529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1</a:t>
            </a:r>
          </a:p>
        </p:txBody>
      </p:sp>
      <p:pic>
        <p:nvPicPr>
          <p:cNvPr id="10" name="Picture 9" descr="part_fig2_02_legend_1_61cc822895_f21f037ddc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21" y="2737734"/>
            <a:ext cx="4025602" cy="72837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878529" y="257383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2</a:t>
            </a:r>
          </a:p>
        </p:txBody>
      </p:sp>
      <p:pic>
        <p:nvPicPr>
          <p:cNvPr id="12" name="Picture 11" descr="part_fig2_03_terrain_1_e8d8d02f5c_8d722feb32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21" y="3776637"/>
            <a:ext cx="4025602" cy="257811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878529" y="3611713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FFFFFF"/>
                </a:solidFill>
                <a:latin typeface="Aptos SemiBold"/>
                <a:ea typeface="PingFang SC"/>
              </a:rPr>
              <a:t>3</a:t>
            </a:r>
          </a:p>
        </p:txBody>
      </p:sp>
      <p:pic>
        <p:nvPicPr>
          <p:cNvPr id="14" name="Picture 13" descr="part_fig2_04_full_1_9c8c7d3d03_f01332301f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004" y="1691906"/>
            <a:ext cx="5254148" cy="4662908"/>
          </a:xfrm>
          <a:prstGeom prst="rect">
            <a:avLst/>
          </a:prstGeom>
          <a:ln w="19050">
            <a:solidFill>
              <a:srgbClr val="D08A1E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Chevron 14"/>
          <p:cNvSpPr/>
          <p:nvPr/>
        </p:nvSpPr>
        <p:spPr>
          <a:xfrm>
            <a:off x="5567423" y="3840480"/>
            <a:ext cx="182880" cy="36576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0888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560"/>
              </a:lnSpc>
              <a:spcAft>
                <a:spcPts val="0"/>
              </a:spcAft>
            </a:pPr>
            <a:r>
              <a:rPr lang="en-US" sz="8800" b="0">
                <a:solidFill>
                  <a:srgbClr val="D08A1E"/>
                </a:solidFill>
                <a:latin typeface="Aptos SemiBold"/>
                <a:ea typeface="PingFang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99360"/>
            <a:ext cx="4617720" cy="1231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560"/>
              </a:lnSpc>
              <a:spcAft>
                <a:spcPts val="0"/>
              </a:spcAft>
            </a:pPr>
            <a:r>
              <a:rPr lang="en-US" sz="3800" b="0">
                <a:solidFill>
                  <a:srgbClr val="1E2B3A"/>
                </a:solidFill>
                <a:latin typeface="Aptos SemiBold"/>
                <a:ea typeface="PingFang SC"/>
              </a:rPr>
              <a:t>Assemble with</a:t>
            </a:r>
          </a:p>
          <a:p>
            <a:pPr algn="l">
              <a:lnSpc>
                <a:spcPts val="4560"/>
              </a:lnSpc>
              <a:spcAft>
                <a:spcPts val="0"/>
              </a:spcAft>
            </a:pPr>
            <a:r>
              <a:rPr lang="en-US" sz="3800" b="0">
                <a:solidFill>
                  <a:srgbClr val="1E2B3A"/>
                </a:solidFill>
                <a:latin typeface="Aptos SemiBold"/>
                <a:ea typeface="PingFang SC"/>
              </a:rPr>
              <a:t>python-pptx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895344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14223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Put the components back on a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paper-sized slide; boxes, text and</a:t>
            </a:r>
          </a:p>
          <a:p>
            <a:pPr algn="l">
              <a:lnSpc>
                <a:spcPts val="2039"/>
              </a:lnSpc>
              <a:spcAft>
                <a:spcPts val="0"/>
              </a:spcAft>
            </a:pPr>
            <a:r>
              <a:rPr lang="en-US" sz="1700" b="0">
                <a:solidFill>
                  <a:srgbClr val="45525F"/>
                </a:solidFill>
                <a:latin typeface="Aptos"/>
                <a:ea typeface="PingFang SC"/>
              </a:rPr>
              <a:t>arrows stay editable PPT shapes</a:t>
            </a:r>
          </a:p>
        </p:txBody>
      </p:sp>
      <p:pic>
        <p:nvPicPr>
          <p:cNvPr id="6" name="Picture 5" descr="fig3_hd_ff70433330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19428"/>
            <a:ext cx="6172200" cy="381914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4 · Assemble with python-pptx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The PPT page is the figure in the paper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3_layer_native_8a7a769ba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0636"/>
            <a:ext cx="3246120" cy="204520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85800" y="4287012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Native PPT 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3448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8592A0"/>
                </a:solidFill>
                <a:latin typeface="Aptos"/>
                <a:ea typeface="PingFang SC"/>
              </a:rPr>
              <a:t>Boxes, titles, arrows,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88920"/>
            <a:ext cx="53949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</a:pPr>
            <a:r>
              <a:rPr lang="en-US" sz="3000" b="0">
                <a:solidFill>
                  <a:srgbClr val="D08A1E"/>
                </a:solidFill>
                <a:latin typeface="Aptos SemiBold"/>
                <a:ea typeface="PingFang SC"/>
              </a:rPr>
              <a:t>+</a:t>
            </a:r>
          </a:p>
        </p:txBody>
      </p:sp>
      <p:pic>
        <p:nvPicPr>
          <p:cNvPr id="12" name="Picture 11" descr="fig3_layer_parts_659fcf6611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040636"/>
            <a:ext cx="3246120" cy="204520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471416" y="4287012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Components drawn in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463448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8592A0"/>
                </a:solidFill>
                <a:latin typeface="Aptos"/>
                <a:ea typeface="PingFang SC"/>
              </a:rPr>
              <a:t>Converted into PPT's own vector shapes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788920"/>
            <a:ext cx="53949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</a:pPr>
            <a:r>
              <a:rPr lang="en-US" sz="3000" b="0">
                <a:solidFill>
                  <a:srgbClr val="D08A1E"/>
                </a:solidFill>
                <a:latin typeface="Aptos SemiBold"/>
                <a:ea typeface="PingFang SC"/>
              </a:rPr>
              <a:t>=</a:t>
            </a:r>
          </a:p>
        </p:txBody>
      </p:sp>
      <p:pic>
        <p:nvPicPr>
          <p:cNvPr id="16" name="Picture 15" descr="fig3_hd_2759ce18f3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042160"/>
            <a:ext cx="3246120" cy="204216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8257032" y="4285488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80"/>
              </a:lnSpc>
              <a:spcAft>
                <a:spcPts val="0"/>
              </a:spcAft>
            </a:pPr>
            <a:r>
              <a:rPr lang="en-US" sz="1650" b="0">
                <a:solidFill>
                  <a:srgbClr val="1E2B3A"/>
                </a:solidFill>
                <a:latin typeface="Aptos SemiBold"/>
                <a:ea typeface="PingFang SC"/>
              </a:rPr>
              <a:t>Fig. 3 in the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463296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8592A0"/>
                </a:solidFill>
                <a:latin typeface="Aptos"/>
                <a:ea typeface="PingFang SC"/>
              </a:rPr>
              <a:t>Exported from PowerPoint as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</a:pPr>
            <a:r>
              <a:rPr lang="en-US" sz="1250" b="0">
                <a:solidFill>
                  <a:srgbClr val="B4700F"/>
                </a:solidFill>
                <a:latin typeface="Aptos SemiBold"/>
                <a:ea typeface="PingFang SC"/>
              </a:rPr>
              <a:t>Step 4 · Assemble with python-pptx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79"/>
              </a:lnSpc>
              <a:spcAft>
                <a:spcPts val="0"/>
              </a:spcAft>
            </a:pPr>
            <a:r>
              <a:rPr lang="en-US" sz="2900" b="0">
                <a:solidFill>
                  <a:srgbClr val="1E2B3A"/>
                </a:solidFill>
                <a:latin typeface="Aptos SemiBold"/>
                <a:ea typeface="PingFang SC"/>
              </a:rPr>
              <a:t>python-pptx: a few lines each for a box, text and a component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de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897880" cy="3850267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fig3_box5_c0017912e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17320"/>
            <a:ext cx="2852661" cy="470916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cxnSp>
        <p:nvCxnSpPr>
          <p:cNvPr id="10" name="Connector 9"/>
          <p:cNvCxnSpPr/>
          <p:nvPr/>
        </p:nvCxnSpPr>
        <p:spPr>
          <a:xfrm flipV="1">
            <a:off x="9566910" y="2670048"/>
            <a:ext cx="537210" cy="900684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521190" y="3525012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68128" y="2514600"/>
            <a:ext cx="1335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B4700F"/>
                </a:solidFill>
                <a:latin typeface="Aptos SemiBold"/>
                <a:ea typeface="PingFang SC"/>
              </a:rPr>
              <a:t>④ Component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86216" y="3401568"/>
            <a:ext cx="1517904" cy="702259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540496" y="4058107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68128" y="3246120"/>
            <a:ext cx="1335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B4700F"/>
                </a:solidFill>
                <a:latin typeface="Aptos SemiBold"/>
                <a:ea typeface="PingFang SC"/>
              </a:rPr>
              <a:t>③ Connector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089136" y="4133088"/>
            <a:ext cx="1014984" cy="171907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43416" y="4259275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68128" y="3977640"/>
            <a:ext cx="1335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B4700F"/>
                </a:solidFill>
                <a:latin typeface="Aptos SemiBold"/>
                <a:ea typeface="PingFang SC"/>
              </a:rPr>
              <a:t>② 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1764" y="4501134"/>
            <a:ext cx="562356" cy="363474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496044" y="4455414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68128" y="4709160"/>
            <a:ext cx="13350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lang="en-US" sz="1500" b="0">
                <a:solidFill>
                  <a:srgbClr val="B4700F"/>
                </a:solidFill>
                <a:latin typeface="Aptos SemiBold"/>
                <a:ea typeface="PingFang SC"/>
              </a:rPr>
              <a:t>①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</a:pPr>
            <a:r>
              <a:rPr lang="en-US" sz="1000" b="0">
                <a:solidFill>
                  <a:srgbClr val="8592A0"/>
                </a:solidFill>
                <a:latin typeface="Aptos"/>
                <a:ea typeface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463040"/>
            <a:ext cx="1060704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</a:pPr>
            <a:r>
              <a:rPr lang="en-US" sz="3200" b="0">
                <a:solidFill>
                  <a:srgbClr val="1E2B3A"/>
                </a:solidFill>
                <a:latin typeface="Aptos SemiBold"/>
                <a:ea typeface="PingFang SC"/>
              </a:rPr>
              <a:t>The AI </a:t>
            </a:r>
            <a:r>
              <a:rPr lang="en-US" sz="3200" b="0">
                <a:solidFill>
                  <a:srgbClr val="B4700F"/>
                </a:solidFill>
                <a:latin typeface="Aptos SemiBold"/>
                <a:ea typeface="PingFang SC"/>
              </a:rPr>
              <a:t>draws and writes the code</a:t>
            </a:r>
            <a:r>
              <a:rPr lang="en-US" sz="3200" b="0">
                <a:solidFill>
                  <a:srgbClr val="1E2B3A"/>
                </a:solidFill>
                <a:latin typeface="Aptos SemiBold"/>
                <a:ea typeface="PingFang SC"/>
              </a:rPr>
              <a:t>;</a:t>
            </a:r>
          </a:p>
          <a:p>
            <a:pPr algn="l">
              <a:lnSpc>
                <a:spcPts val="3840"/>
              </a:lnSpc>
              <a:spcAft>
                <a:spcPts val="0"/>
              </a:spcAft>
            </a:pPr>
            <a:r>
              <a:rPr lang="en-US" sz="3200" b="0">
                <a:solidFill>
                  <a:srgbClr val="1E2B3A"/>
                </a:solidFill>
                <a:latin typeface="Aptos SemiBold"/>
                <a:ea typeface="PingFang SC"/>
              </a:rPr>
              <a:t>you </a:t>
            </a:r>
            <a:r>
              <a:rPr lang="en-US" sz="3200" b="0">
                <a:solidFill>
                  <a:srgbClr val="B4700F"/>
                </a:solidFill>
                <a:latin typeface="Aptos SemiBold"/>
                <a:ea typeface="PingFang SC"/>
              </a:rPr>
              <a:t>choose and ask for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08960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lang="en-US" sz="2200" b="0">
                <a:solidFill>
                  <a:srgbClr val="D08A1E"/>
                </a:solidFill>
                <a:latin typeface="Aptos SemiBold"/>
                <a:ea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3896" y="3520440"/>
            <a:ext cx="1810512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1E2B3A"/>
                </a:solidFill>
                <a:latin typeface="Aptos SemiBold"/>
                <a:ea typeface="PingFang SC"/>
              </a:rPr>
              <a:t>Generate many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lang="en-US" sz="2200" b="0">
                <a:solidFill>
                  <a:srgbClr val="D08A1E"/>
                </a:solidFill>
                <a:latin typeface="Aptos SemiBold"/>
                <a:ea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3520440"/>
            <a:ext cx="1810512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1E2B3A"/>
                </a:solidFill>
                <a:latin typeface="Aptos SemiBold"/>
                <a:ea typeface="PingFang SC"/>
              </a:rPr>
              <a:t>Pick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lang="en-US" sz="2200" b="0">
                <a:solidFill>
                  <a:srgbClr val="D08A1E"/>
                </a:solidFill>
                <a:latin typeface="Aptos SemiBold"/>
                <a:ea typeface="PingFang S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6" y="3520440"/>
            <a:ext cx="1810512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1E2B3A"/>
                </a:solidFill>
                <a:latin typeface="Aptos SemiBold"/>
                <a:ea typeface="PingFang SC"/>
              </a:rPr>
              <a:t>Draw components</a:t>
            </a:r>
          </a:p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1E2B3A"/>
                </a:solidFill>
                <a:latin typeface="Aptos SemiBold"/>
                <a:ea typeface="PingFang SC"/>
              </a:rPr>
              <a:t>in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lang="en-US" sz="2200" b="0">
                <a:solidFill>
                  <a:srgbClr val="D08A1E"/>
                </a:solidFill>
                <a:latin typeface="Aptos SemiBold"/>
                <a:ea typeface="PingFang S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6336" y="3520440"/>
            <a:ext cx="1810512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1E2B3A"/>
                </a:solidFill>
                <a:latin typeface="Aptos SemiBold"/>
                <a:ea typeface="PingFang SC"/>
              </a:rPr>
              <a:t>Assemble with</a:t>
            </a:r>
          </a:p>
          <a:p>
            <a:pPr algn="l">
              <a:lnSpc>
                <a:spcPts val="1620"/>
              </a:lnSpc>
              <a:spcAft>
                <a:spcPts val="0"/>
              </a:spcAft>
            </a:pPr>
            <a:r>
              <a:rPr lang="en-US" sz="1350" b="0">
                <a:solidFill>
                  <a:srgbClr val="1E2B3A"/>
                </a:solidFill>
                <a:latin typeface="Aptos SemiBold"/>
                <a:ea typeface="PingFang SC"/>
              </a:rPr>
              <a:t>python-pptx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C2D6B97-691A-B947-C067-D58AA87FEFE9}"/>
              </a:ext>
            </a:extLst>
          </p:cNvPr>
          <p:cNvSpPr txBox="1"/>
          <p:nvPr/>
        </p:nvSpPr>
        <p:spPr>
          <a:xfrm>
            <a:off x="685800" y="403632"/>
            <a:ext cx="1968190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altLang="en-US" sz="2900" b="1" dirty="0">
                <a:solidFill>
                  <a:srgbClr val="1E2B3A"/>
                </a:solidFill>
                <a:latin typeface="PingFang SC"/>
                <a:ea typeface="PingFang SC"/>
              </a:rPr>
              <a:t>实验结果图</a:t>
            </a:r>
            <a:endParaRPr lang="zh-CN" sz="2900" b="1" dirty="0">
              <a:solidFill>
                <a:srgbClr val="1E2B3A"/>
              </a:solidFill>
              <a:latin typeface="PingFang SC"/>
              <a:ea typeface="PingFang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34E94C-9BB4-A60F-79EB-6E17415A1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538" y="2913014"/>
            <a:ext cx="3986532" cy="30674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B7F2D6-4FBC-CDA9-6470-EEBBED34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538" y="3063014"/>
            <a:ext cx="3986532" cy="30674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C7666A9-C1F7-EBE7-6553-860447FF9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538" y="3213014"/>
            <a:ext cx="3986532" cy="30674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C54B9A0-10CD-5324-68ED-9B77DD66F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538" y="3363014"/>
            <a:ext cx="3986532" cy="30674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EF8D07-E604-D7A3-C6EA-780DFD3373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538" y="3513014"/>
            <a:ext cx="3986532" cy="30674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173CF8F-087F-3BA1-6AE9-147DCB0F28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1963" y="3758234"/>
            <a:ext cx="3986532" cy="306741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9043BDF-3212-3728-509D-491C4BA7E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9854" y="3663014"/>
            <a:ext cx="3986532" cy="306741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30AE175-F9A1-A47D-8911-C71159C08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7118" y="2061306"/>
            <a:ext cx="3986532" cy="30674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2097351-71F4-111A-7CFA-43050317E5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7392" y="1426590"/>
            <a:ext cx="3986532" cy="306741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EB26EE5-8D43-0058-89AB-8EBFD277AA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0384" y="1053182"/>
            <a:ext cx="3986532" cy="30674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476E93F-D3E3-6E3A-ABE9-3598EBE6C5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4" y="3575349"/>
            <a:ext cx="3986532" cy="306741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F80DD72-484B-7C5A-A39A-E337D6BCEA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7" y="1103453"/>
            <a:ext cx="3986532" cy="306741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2453753-B536-480B-148E-B2CFAFAD1F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2118" y="3220598"/>
            <a:ext cx="3986532" cy="306741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4CE954C-5517-CA7E-943C-A35AB201754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32804" y="70599"/>
            <a:ext cx="3986532" cy="3067415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AFB32681-1472-E525-F822-7E96F7BD60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4168" y="3179306"/>
            <a:ext cx="3986532" cy="306741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B94BB58-1890-3DD9-61AC-3FD61D7EAE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04491" y="292265"/>
            <a:ext cx="3986532" cy="306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1503</Words>
  <Application>Microsoft Macintosh PowerPoint</Application>
  <PresentationFormat>宽屏</PresentationFormat>
  <Paragraphs>279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PingFang SC</vt:lpstr>
      <vt:lpstr>Aptos</vt:lpstr>
      <vt:lpstr>Aptos SemiBold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Drawing research figures with AI</dc:title>
  <dc:subject/>
  <dc:creator>Jiaming Hu</dc:creator>
  <cp:keywords/>
  <dc:description>generated using python-pptx</dc:description>
  <cp:lastModifiedBy>k2619</cp:lastModifiedBy>
  <cp:revision>2</cp:revision>
  <dcterms:created xsi:type="dcterms:W3CDTF">2013-01-27T09:14:16Z</dcterms:created>
  <dcterms:modified xsi:type="dcterms:W3CDTF">2026-10-29T10:24:46Z</dcterms:modified>
  <cp:category/>
</cp:coreProperties>
</file>