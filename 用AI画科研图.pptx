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1" r:id="rId6"/>
    <p:sldId id="281" r:id="rId7"/>
    <p:sldId id="260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2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F4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16"/>
    <p:restoredTop sz="94650"/>
  </p:normalViewPr>
  <p:slideViewPr>
    <p:cSldViewPr snapToGrid="0" snapToObjects="1">
      <p:cViewPr varScale="1">
        <p:scale>
          <a:sx n="157" d="100"/>
          <a:sy n="157" d="100"/>
        </p:scale>
        <p:origin x="7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5451D6-EC9F-DE4D-98C4-12FF9627DDCB}" type="datetimeFigureOut">
              <a:rPr kumimoji="1" lang="zh-CN" altLang="en-US" smtClean="0"/>
              <a:t>2026/10/29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6C1B53-3263-3845-A7DB-E71B93E576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67086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6C1B53-3263-3845-A7DB-E71B93E576C7}" type="slidenum">
              <a:rPr kumimoji="1" lang="zh-CN" altLang="en-US" smtClean="0"/>
              <a:t>27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467830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7" Type="http://schemas.openxmlformats.org/officeDocument/2006/relationships/image" Target="../media/image92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JPG"/><Relationship Id="rId13" Type="http://schemas.openxmlformats.org/officeDocument/2006/relationships/image" Target="../media/image113.JPG"/><Relationship Id="rId18" Type="http://schemas.openxmlformats.org/officeDocument/2006/relationships/image" Target="../media/image118.JPG"/><Relationship Id="rId3" Type="http://schemas.openxmlformats.org/officeDocument/2006/relationships/image" Target="../media/image103.JPG"/><Relationship Id="rId7" Type="http://schemas.openxmlformats.org/officeDocument/2006/relationships/image" Target="../media/image107.JPG"/><Relationship Id="rId12" Type="http://schemas.openxmlformats.org/officeDocument/2006/relationships/image" Target="../media/image112.JPG"/><Relationship Id="rId17" Type="http://schemas.openxmlformats.org/officeDocument/2006/relationships/image" Target="../media/image117.JP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16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6.JPG"/><Relationship Id="rId11" Type="http://schemas.openxmlformats.org/officeDocument/2006/relationships/image" Target="../media/image111.JPG"/><Relationship Id="rId5" Type="http://schemas.openxmlformats.org/officeDocument/2006/relationships/image" Target="../media/image105.JPG"/><Relationship Id="rId15" Type="http://schemas.openxmlformats.org/officeDocument/2006/relationships/image" Target="../media/image115.JPG"/><Relationship Id="rId10" Type="http://schemas.openxmlformats.org/officeDocument/2006/relationships/image" Target="../media/image110.JPG"/><Relationship Id="rId4" Type="http://schemas.openxmlformats.org/officeDocument/2006/relationships/image" Target="../media/image104.JPG"/><Relationship Id="rId9" Type="http://schemas.openxmlformats.org/officeDocument/2006/relationships/image" Target="../media/image109.JPG"/><Relationship Id="rId14" Type="http://schemas.openxmlformats.org/officeDocument/2006/relationships/image" Target="../media/image11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1463040"/>
            <a:ext cx="539496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5120"/>
              </a:lnSpc>
              <a:spcAft>
                <a:spcPts val="0"/>
              </a:spcAft>
            </a:pPr>
            <a:r>
              <a:rPr lang="zh-CN" sz="4000" b="1">
                <a:solidFill>
                  <a:srgbClr val="1E2B3A"/>
                </a:solidFill>
                <a:latin typeface="PingFang SC"/>
                <a:ea typeface="PingFang SC"/>
              </a:rPr>
              <a:t>用 AI 画科研示意图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804672" y="2542032"/>
            <a:ext cx="548640" cy="45720"/>
          </a:xfrm>
          <a:prstGeom prst="rect">
            <a:avLst/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852928"/>
            <a:ext cx="54864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76"/>
              </a:lnSpc>
              <a:spcAft>
                <a:spcPts val="0"/>
              </a:spcAft>
            </a:pPr>
            <a:r>
              <a:rPr lang="zh-CN" sz="1700" b="1">
                <a:solidFill>
                  <a:srgbClr val="D08A1E"/>
                </a:solidFill>
                <a:latin typeface="PingFang SC"/>
                <a:ea typeface="PingFang SC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852928"/>
            <a:ext cx="402336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76"/>
              </a:lnSpc>
              <a:spcAft>
                <a:spcPts val="0"/>
              </a:spcAft>
            </a:pPr>
            <a:r>
              <a:rPr lang="zh-CN" sz="1700" b="0">
                <a:solidFill>
                  <a:srgbClr val="45525F"/>
                </a:solidFill>
                <a:latin typeface="PingFang SC"/>
                <a:ea typeface="PingFang SC"/>
              </a:rPr>
              <a:t>出多种风格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328416"/>
            <a:ext cx="54864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76"/>
              </a:lnSpc>
              <a:spcAft>
                <a:spcPts val="0"/>
              </a:spcAft>
            </a:pPr>
            <a:r>
              <a:rPr lang="zh-CN" sz="1700" b="1">
                <a:solidFill>
                  <a:srgbClr val="D08A1E"/>
                </a:solidFill>
                <a:latin typeface="PingFang SC"/>
                <a:ea typeface="PingFang SC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328416"/>
            <a:ext cx="402336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76"/>
              </a:lnSpc>
              <a:spcAft>
                <a:spcPts val="0"/>
              </a:spcAft>
            </a:pPr>
            <a:r>
              <a:rPr lang="zh-CN" sz="1700" b="0">
                <a:solidFill>
                  <a:srgbClr val="45525F"/>
                </a:solidFill>
                <a:latin typeface="PingFang SC"/>
                <a:ea typeface="PingFang SC"/>
              </a:rPr>
              <a:t>选一种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03904"/>
            <a:ext cx="54864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76"/>
              </a:lnSpc>
              <a:spcAft>
                <a:spcPts val="0"/>
              </a:spcAft>
            </a:pPr>
            <a:r>
              <a:rPr lang="zh-CN" sz="1700" b="1">
                <a:solidFill>
                  <a:srgbClr val="D08A1E"/>
                </a:solidFill>
                <a:latin typeface="PingFang SC"/>
                <a:ea typeface="PingFang SC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803904"/>
            <a:ext cx="402336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76"/>
              </a:lnSpc>
              <a:spcAft>
                <a:spcPts val="0"/>
              </a:spcAft>
            </a:pPr>
            <a:r>
              <a:rPr lang="zh-CN" sz="1700" b="0">
                <a:solidFill>
                  <a:srgbClr val="45525F"/>
                </a:solidFill>
                <a:latin typeface="PingFang SC"/>
                <a:ea typeface="PingFang SC"/>
              </a:rPr>
              <a:t>用 Python 画组件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279392"/>
            <a:ext cx="54864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76"/>
              </a:lnSpc>
              <a:spcAft>
                <a:spcPts val="0"/>
              </a:spcAft>
            </a:pPr>
            <a:r>
              <a:rPr lang="zh-CN" sz="1700" b="1">
                <a:solidFill>
                  <a:srgbClr val="D08A1E"/>
                </a:solidFill>
                <a:latin typeface="PingFang SC"/>
                <a:ea typeface="PingFang SC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279392"/>
            <a:ext cx="402336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76"/>
              </a:lnSpc>
              <a:spcAft>
                <a:spcPts val="0"/>
              </a:spcAft>
            </a:pPr>
            <a:r>
              <a:rPr lang="zh-CN" sz="1700" b="0">
                <a:solidFill>
                  <a:srgbClr val="45525F"/>
                </a:solidFill>
                <a:latin typeface="PingFang SC"/>
                <a:ea typeface="PingFang SC"/>
              </a:rPr>
              <a:t>用 python-pptx 组合</a:t>
            </a:r>
          </a:p>
        </p:txBody>
      </p:sp>
      <p:pic>
        <p:nvPicPr>
          <p:cNvPr id="12" name="Picture 11" descr="fig3_hd_8db3f720887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7315" y="686091"/>
            <a:ext cx="5701850" cy="3519858"/>
          </a:xfrm>
          <a:prstGeom prst="rect">
            <a:avLst/>
          </a:prstGeom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pic>
        <p:nvPicPr>
          <p:cNvPr id="13" name="Picture 12" descr="fig1_hd_2d8e5915e4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20000">
            <a:off x="5715000" y="3369564"/>
            <a:ext cx="2606040" cy="2770632"/>
          </a:xfrm>
          <a:prstGeom prst="rect">
            <a:avLst/>
          </a:prstGeom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pic>
        <p:nvPicPr>
          <p:cNvPr id="14" name="Picture 13" descr="fig2_hd_04f48fa9c8c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">
            <a:off x="8778240" y="3669792"/>
            <a:ext cx="2880360" cy="2581656"/>
          </a:xfrm>
          <a:prstGeom prst="rect">
            <a:avLst/>
          </a:prstGeom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694944"/>
            <a:ext cx="10817352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711"/>
              </a:lnSpc>
              <a:spcAft>
                <a:spcPts val="0"/>
              </a:spcAft>
            </a:pPr>
            <a:r>
              <a:rPr lang="zh-CN" sz="2900" b="1">
                <a:solidFill>
                  <a:srgbClr val="1E2B3A"/>
                </a:solidFill>
                <a:latin typeface="PingFang SC"/>
                <a:ea typeface="PingFang SC"/>
              </a:rPr>
              <a:t>三张示意图，全部用代码画出</a:t>
            </a:r>
          </a:p>
        </p:txBody>
      </p:sp>
      <p:pic>
        <p:nvPicPr>
          <p:cNvPr id="3" name="Picture 2" descr="fig1_hd_6e9b758cb0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02665"/>
            <a:ext cx="2625181" cy="2789830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685800" y="5093208"/>
            <a:ext cx="2625181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2048"/>
              </a:lnSpc>
              <a:spcAft>
                <a:spcPts val="0"/>
              </a:spcAft>
            </a:pPr>
            <a:r>
              <a:rPr lang="zh-CN" sz="1600" b="1">
                <a:solidFill>
                  <a:srgbClr val="1E2B3A"/>
                </a:solidFill>
                <a:latin typeface="PingFang SC"/>
                <a:ea typeface="PingFang SC"/>
              </a:rPr>
              <a:t>Fig. 1 双层结构</a:t>
            </a:r>
          </a:p>
        </p:txBody>
      </p:sp>
      <p:pic>
        <p:nvPicPr>
          <p:cNvPr id="5" name="Picture 4" descr="fig2_hd_cc41c503edb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5694" y="2103104"/>
            <a:ext cx="3108996" cy="2788952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3615694" y="5093208"/>
            <a:ext cx="3108996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2048"/>
              </a:lnSpc>
              <a:spcAft>
                <a:spcPts val="0"/>
              </a:spcAft>
            </a:pPr>
            <a:r>
              <a:rPr lang="zh-CN" sz="1600" b="1">
                <a:solidFill>
                  <a:srgbClr val="1E2B3A"/>
                </a:solidFill>
                <a:latin typeface="PingFang SC"/>
                <a:ea typeface="PingFang SC"/>
              </a:rPr>
              <a:t>Fig. 2 决策地形</a:t>
            </a:r>
          </a:p>
        </p:txBody>
      </p:sp>
      <p:pic>
        <p:nvPicPr>
          <p:cNvPr id="7" name="Picture 6" descr="fig3_hd_bcb0488026b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9404" y="2103337"/>
            <a:ext cx="4473748" cy="2788486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7029404" y="5093208"/>
            <a:ext cx="4473748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2048"/>
              </a:lnSpc>
              <a:spcAft>
                <a:spcPts val="0"/>
              </a:spcAft>
            </a:pPr>
            <a:r>
              <a:rPr lang="zh-CN" sz="1600" b="1">
                <a:solidFill>
                  <a:srgbClr val="1E2B3A"/>
                </a:solidFill>
                <a:latin typeface="PingFang SC"/>
                <a:ea typeface="PingFang SC"/>
              </a:rPr>
              <a:t>Fig. 3 方法框架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88752" y="6446520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280"/>
              </a:lnSpc>
              <a:spcAft>
                <a:spcPts val="0"/>
              </a:spcAft>
            </a:pPr>
            <a:r>
              <a:rPr lang="zh-CN" sz="1000" b="0">
                <a:solidFill>
                  <a:srgbClr val="8592A0"/>
                </a:solidFill>
                <a:latin typeface="PingFang SC"/>
                <a:ea typeface="PingFang S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694944"/>
            <a:ext cx="10817352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711"/>
              </a:lnSpc>
              <a:spcAft>
                <a:spcPts val="0"/>
              </a:spcAft>
            </a:pPr>
            <a:r>
              <a:rPr lang="zh-CN" sz="2900" b="1">
                <a:solidFill>
                  <a:srgbClr val="1E2B3A"/>
                </a:solidFill>
                <a:latin typeface="PingFang SC"/>
                <a:ea typeface="PingFang SC"/>
              </a:rPr>
              <a:t>四步画出一张示意图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43584"/>
            <a:ext cx="10817352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84"/>
              </a:lnSpc>
              <a:spcAft>
                <a:spcPts val="0"/>
              </a:spcAft>
            </a:pPr>
            <a:r>
              <a:rPr lang="zh-CN" sz="1550" b="0">
                <a:solidFill>
                  <a:srgbClr val="45525F"/>
                </a:solidFill>
                <a:latin typeface="PingFang SC"/>
                <a:ea typeface="PingFang SC"/>
              </a:rPr>
              <a:t>以 Fig. 1 为例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783080"/>
            <a:ext cx="2487168" cy="3886200"/>
          </a:xfrm>
          <a:prstGeom prst="roundRect">
            <a:avLst>
              <a:gd name="adj" fmla="val 4411"/>
            </a:avLst>
          </a:prstGeom>
          <a:solidFill>
            <a:srgbClr val="FFFFFF"/>
          </a:solidFill>
          <a:ln w="6350">
            <a:solidFill>
              <a:srgbClr val="E2DED7"/>
            </a:solidFill>
          </a:ln>
          <a:effectLst>
            <a:outerShdw blurRad="100584" dist="27432" dir="5400000" algn="t" rotWithShape="0">
              <a:srgbClr val="1C2B3A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fig1_opt_A_041374a3ca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548" y="1948179"/>
            <a:ext cx="818959" cy="867665"/>
          </a:xfrm>
          <a:prstGeom prst="rect">
            <a:avLst/>
          </a:prstGeom>
          <a:ln w="6350">
            <a:solidFill>
              <a:srgbClr val="E2DED7"/>
            </a:solidFill>
          </a:ln>
        </p:spPr>
      </p:pic>
      <p:pic>
        <p:nvPicPr>
          <p:cNvPr id="6" name="Picture 5" descr="fig1_opt_B_67e30ee3a54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1947672"/>
            <a:ext cx="868680" cy="868680"/>
          </a:xfrm>
          <a:prstGeom prst="rect">
            <a:avLst/>
          </a:prstGeom>
          <a:ln w="6350">
            <a:solidFill>
              <a:srgbClr val="E2DED7"/>
            </a:solidFill>
          </a:ln>
        </p:spPr>
      </p:pic>
      <p:pic>
        <p:nvPicPr>
          <p:cNvPr id="7" name="Picture 6" descr="fig1_opt_C_7fb009597e0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090" y="2908458"/>
            <a:ext cx="833876" cy="867347"/>
          </a:xfrm>
          <a:prstGeom prst="rect">
            <a:avLst/>
          </a:prstGeom>
          <a:ln w="6350">
            <a:solidFill>
              <a:srgbClr val="E2DED7"/>
            </a:solidFill>
          </a:ln>
        </p:spPr>
      </p:pic>
      <p:pic>
        <p:nvPicPr>
          <p:cNvPr id="8" name="Picture 7" descr="fig1_opt_D_0cb17f0b273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6350" y="2907593"/>
            <a:ext cx="850781" cy="869078"/>
          </a:xfrm>
          <a:prstGeom prst="rect">
            <a:avLst/>
          </a:prstGeom>
          <a:ln w="6350">
            <a:solidFill>
              <a:srgbClr val="E2DED7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868680" y="3941064"/>
            <a:ext cx="2121408" cy="10973"/>
          </a:xfrm>
          <a:prstGeom prst="rect">
            <a:avLst/>
          </a:prstGeom>
          <a:solidFill>
            <a:srgbClr val="E2DED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4087368"/>
            <a:ext cx="212140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00"/>
              </a:lnSpc>
              <a:spcAft>
                <a:spcPts val="0"/>
              </a:spcAft>
            </a:pPr>
            <a:r>
              <a:rPr lang="zh-CN" sz="1250" b="1">
                <a:solidFill>
                  <a:srgbClr val="B4700F"/>
                </a:solidFill>
                <a:latin typeface="PingFang SC"/>
                <a:ea typeface="PingFang SC"/>
              </a:rPr>
              <a:t>第 1 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4379976"/>
            <a:ext cx="2121408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48"/>
              </a:lnSpc>
              <a:spcAft>
                <a:spcPts val="0"/>
              </a:spcAft>
            </a:pPr>
            <a:r>
              <a:rPr lang="zh-CN" sz="1600" b="1">
                <a:solidFill>
                  <a:srgbClr val="1E2B3A"/>
                </a:solidFill>
                <a:latin typeface="PingFang SC"/>
                <a:ea typeface="PingFang SC"/>
              </a:rPr>
              <a:t>出多种风格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4837176"/>
            <a:ext cx="2084832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92"/>
              </a:lnSpc>
              <a:spcAft>
                <a:spcPts val="0"/>
              </a:spcAft>
            </a:pPr>
            <a:r>
              <a:rPr lang="zh-CN" sz="1400" b="0">
                <a:solidFill>
                  <a:srgbClr val="45525F"/>
                </a:solidFill>
                <a:latin typeface="PingFang SC"/>
                <a:ea typeface="PingFang SC"/>
              </a:rPr>
              <a:t>让 AI 一次出 3–7 版，</a:t>
            </a:r>
          </a:p>
          <a:p>
            <a:pPr algn="l">
              <a:lnSpc>
                <a:spcPts val="1792"/>
              </a:lnSpc>
              <a:spcAft>
                <a:spcPts val="0"/>
              </a:spcAft>
            </a:pPr>
            <a:r>
              <a:rPr lang="zh-CN" sz="1400" b="0">
                <a:solidFill>
                  <a:srgbClr val="45525F"/>
                </a:solidFill>
                <a:latin typeface="PingFang SC"/>
                <a:ea typeface="PingFang SC"/>
              </a:rPr>
              <a:t>风格差得越开越好</a:t>
            </a:r>
          </a:p>
        </p:txBody>
      </p:sp>
      <p:sp>
        <p:nvSpPr>
          <p:cNvPr id="13" name="Chevron 12"/>
          <p:cNvSpPr/>
          <p:nvPr/>
        </p:nvSpPr>
        <p:spPr>
          <a:xfrm>
            <a:off x="3244596" y="2743200"/>
            <a:ext cx="146304" cy="274320"/>
          </a:xfrm>
          <a:prstGeom prst="chevron">
            <a:avLst/>
          </a:prstGeom>
          <a:solidFill>
            <a:srgbClr val="CFC8B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462528" y="1783080"/>
            <a:ext cx="2487168" cy="3886200"/>
          </a:xfrm>
          <a:prstGeom prst="roundRect">
            <a:avLst>
              <a:gd name="adj" fmla="val 4411"/>
            </a:avLst>
          </a:prstGeom>
          <a:solidFill>
            <a:srgbClr val="FFFFFF"/>
          </a:solidFill>
          <a:ln w="6350">
            <a:solidFill>
              <a:srgbClr val="E2DED7"/>
            </a:solidFill>
          </a:ln>
          <a:effectLst>
            <a:outerShdw blurRad="100584" dist="27432" dir="5400000" algn="t" rotWithShape="0">
              <a:srgbClr val="1C2B3A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fig1_opt_A_041374a3ca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4276" y="1948179"/>
            <a:ext cx="818959" cy="867665"/>
          </a:xfrm>
          <a:prstGeom prst="rect">
            <a:avLst/>
          </a:prstGeom>
          <a:ln w="22225">
            <a:solidFill>
              <a:srgbClr val="D08A1E"/>
            </a:solidFill>
          </a:ln>
        </p:spPr>
      </p:pic>
      <p:pic>
        <p:nvPicPr>
          <p:cNvPr id="16" name="Picture 15" descr="fig1_opt_B_dim_41530bef08f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4128" y="1947672"/>
            <a:ext cx="868680" cy="868680"/>
          </a:xfrm>
          <a:prstGeom prst="rect">
            <a:avLst/>
          </a:prstGeom>
          <a:ln w="6350">
            <a:solidFill>
              <a:srgbClr val="E2DED7"/>
            </a:solidFill>
          </a:ln>
        </p:spPr>
      </p:pic>
      <p:pic>
        <p:nvPicPr>
          <p:cNvPr id="17" name="Picture 16" descr="fig1_opt_C_dim_50ad4149887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26818" y="2908458"/>
            <a:ext cx="833876" cy="867347"/>
          </a:xfrm>
          <a:prstGeom prst="rect">
            <a:avLst/>
          </a:prstGeom>
          <a:ln w="6350">
            <a:solidFill>
              <a:srgbClr val="E2DED7"/>
            </a:solidFill>
          </a:ln>
        </p:spPr>
      </p:pic>
      <p:pic>
        <p:nvPicPr>
          <p:cNvPr id="18" name="Picture 17" descr="fig1_opt_D_dim_06d95fae1e5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3078" y="2907593"/>
            <a:ext cx="850781" cy="869078"/>
          </a:xfrm>
          <a:prstGeom prst="rect">
            <a:avLst/>
          </a:prstGeom>
          <a:ln w="6350">
            <a:solidFill>
              <a:srgbClr val="E2DED7"/>
            </a:solidFill>
          </a:ln>
        </p:spPr>
      </p:pic>
      <p:sp>
        <p:nvSpPr>
          <p:cNvPr id="19" name="Rectangle 18"/>
          <p:cNvSpPr/>
          <p:nvPr/>
        </p:nvSpPr>
        <p:spPr>
          <a:xfrm>
            <a:off x="3645408" y="3941064"/>
            <a:ext cx="2121408" cy="10973"/>
          </a:xfrm>
          <a:prstGeom prst="rect">
            <a:avLst/>
          </a:prstGeom>
          <a:solidFill>
            <a:srgbClr val="E2DED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63696" y="4087368"/>
            <a:ext cx="212140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00"/>
              </a:lnSpc>
              <a:spcAft>
                <a:spcPts val="0"/>
              </a:spcAft>
            </a:pPr>
            <a:r>
              <a:rPr lang="zh-CN" sz="1250" b="1">
                <a:solidFill>
                  <a:srgbClr val="B4700F"/>
                </a:solidFill>
                <a:latin typeface="PingFang SC"/>
                <a:ea typeface="PingFang SC"/>
              </a:rPr>
              <a:t>第 2 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63696" y="4379976"/>
            <a:ext cx="2121408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48"/>
              </a:lnSpc>
              <a:spcAft>
                <a:spcPts val="0"/>
              </a:spcAft>
            </a:pPr>
            <a:r>
              <a:rPr lang="zh-CN" sz="1600" b="1">
                <a:solidFill>
                  <a:srgbClr val="1E2B3A"/>
                </a:solidFill>
                <a:latin typeface="PingFang SC"/>
                <a:ea typeface="PingFang SC"/>
              </a:rPr>
              <a:t>选一种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63696" y="4837176"/>
            <a:ext cx="2084832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92"/>
              </a:lnSpc>
              <a:spcAft>
                <a:spcPts val="0"/>
              </a:spcAft>
            </a:pPr>
            <a:r>
              <a:rPr lang="zh-CN" sz="1400" b="0">
                <a:solidFill>
                  <a:srgbClr val="45525F"/>
                </a:solidFill>
                <a:latin typeface="PingFang SC"/>
                <a:ea typeface="PingFang SC"/>
              </a:rPr>
              <a:t>挑一版，说清喜欢哪里；</a:t>
            </a:r>
          </a:p>
          <a:p>
            <a:pPr algn="l">
              <a:lnSpc>
                <a:spcPts val="1792"/>
              </a:lnSpc>
              <a:spcAft>
                <a:spcPts val="0"/>
              </a:spcAft>
            </a:pPr>
            <a:r>
              <a:rPr lang="zh-CN" sz="1400" b="0">
                <a:solidFill>
                  <a:srgbClr val="45525F"/>
                </a:solidFill>
                <a:latin typeface="PingFang SC"/>
                <a:ea typeface="PingFang SC"/>
              </a:rPr>
              <a:t>说不清就让 AI 给选项</a:t>
            </a:r>
          </a:p>
        </p:txBody>
      </p:sp>
      <p:sp>
        <p:nvSpPr>
          <p:cNvPr id="23" name="Chevron 22"/>
          <p:cNvSpPr/>
          <p:nvPr/>
        </p:nvSpPr>
        <p:spPr>
          <a:xfrm>
            <a:off x="6021324" y="2743200"/>
            <a:ext cx="146304" cy="274320"/>
          </a:xfrm>
          <a:prstGeom prst="chevron">
            <a:avLst/>
          </a:prstGeom>
          <a:solidFill>
            <a:srgbClr val="CFC8B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39256" y="1783080"/>
            <a:ext cx="2487168" cy="3886200"/>
          </a:xfrm>
          <a:prstGeom prst="roundRect">
            <a:avLst>
              <a:gd name="adj" fmla="val 4411"/>
            </a:avLst>
          </a:prstGeom>
          <a:solidFill>
            <a:srgbClr val="FFFFFF"/>
          </a:solidFill>
          <a:ln w="6350">
            <a:solidFill>
              <a:srgbClr val="E2DED7"/>
            </a:solidFill>
          </a:ln>
          <a:effectLst>
            <a:outerShdw blurRad="100584" dist="27432" dir="5400000" algn="t" rotWithShape="0">
              <a:srgbClr val="1C2B3A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part_fig1_01_floor_1_62eadcbf7f_8ae2b8b7bca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20681" y="1947595"/>
            <a:ext cx="1524318" cy="777395"/>
          </a:xfrm>
          <a:prstGeom prst="rect">
            <a:avLst/>
          </a:prstGeom>
          <a:ln w="9525">
            <a:solidFill>
              <a:srgbClr val="E2DED7"/>
            </a:solidFill>
          </a:ln>
        </p:spPr>
      </p:pic>
      <p:pic>
        <p:nvPicPr>
          <p:cNvPr id="26" name="Picture 25" descr="part_fig1_02_glass_scene_1_b7d78dd39b_1f33e8125afa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28682" y="2815671"/>
            <a:ext cx="891271" cy="961483"/>
          </a:xfrm>
          <a:prstGeom prst="rect">
            <a:avLst/>
          </a:prstGeom>
          <a:ln w="9525">
            <a:solidFill>
              <a:srgbClr val="E2DED7"/>
            </a:solidFill>
          </a:ln>
        </p:spPr>
      </p:pic>
      <p:pic>
        <p:nvPicPr>
          <p:cNvPr id="27" name="Picture 26" descr="part_fig1_03_upper_level_1_1daa093c5b_a7d0968ed497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11393" y="2815975"/>
            <a:ext cx="1125606" cy="960874"/>
          </a:xfrm>
          <a:prstGeom prst="rect">
            <a:avLst/>
          </a:prstGeom>
          <a:ln w="9525">
            <a:solidFill>
              <a:srgbClr val="E2DED7"/>
            </a:solidFill>
          </a:ln>
        </p:spPr>
      </p:pic>
      <p:sp>
        <p:nvSpPr>
          <p:cNvPr id="28" name="Rectangle 27"/>
          <p:cNvSpPr/>
          <p:nvPr/>
        </p:nvSpPr>
        <p:spPr>
          <a:xfrm>
            <a:off x="6422136" y="3941064"/>
            <a:ext cx="2121408" cy="10973"/>
          </a:xfrm>
          <a:prstGeom prst="rect">
            <a:avLst/>
          </a:prstGeom>
          <a:solidFill>
            <a:srgbClr val="E2DED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40424" y="4087368"/>
            <a:ext cx="212140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00"/>
              </a:lnSpc>
              <a:spcAft>
                <a:spcPts val="0"/>
              </a:spcAft>
            </a:pPr>
            <a:r>
              <a:rPr lang="zh-CN" sz="1250" b="1">
                <a:solidFill>
                  <a:srgbClr val="B4700F"/>
                </a:solidFill>
                <a:latin typeface="PingFang SC"/>
                <a:ea typeface="PingFang SC"/>
              </a:rPr>
              <a:t>第 3 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0424" y="4379976"/>
            <a:ext cx="2121408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48"/>
              </a:lnSpc>
              <a:spcAft>
                <a:spcPts val="0"/>
              </a:spcAft>
            </a:pPr>
            <a:r>
              <a:rPr lang="zh-CN" sz="1600" b="1">
                <a:solidFill>
                  <a:srgbClr val="1E2B3A"/>
                </a:solidFill>
                <a:latin typeface="PingFang SC"/>
                <a:ea typeface="PingFang SC"/>
              </a:rPr>
              <a:t>用 Python 画组件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0424" y="4837176"/>
            <a:ext cx="2084832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92"/>
              </a:lnSpc>
              <a:spcAft>
                <a:spcPts val="0"/>
              </a:spcAft>
            </a:pPr>
            <a:r>
              <a:rPr lang="zh-CN" sz="1400" b="0">
                <a:solidFill>
                  <a:srgbClr val="45525F"/>
                </a:solidFill>
                <a:latin typeface="PingFang SC"/>
                <a:ea typeface="PingFang SC"/>
              </a:rPr>
              <a:t>拆成小组件，</a:t>
            </a:r>
          </a:p>
          <a:p>
            <a:pPr algn="l">
              <a:lnSpc>
                <a:spcPts val="1792"/>
              </a:lnSpc>
              <a:spcAft>
                <a:spcPts val="0"/>
              </a:spcAft>
            </a:pPr>
            <a:r>
              <a:rPr lang="zh-CN" sz="1400" b="0">
                <a:solidFill>
                  <a:srgbClr val="45525F"/>
                </a:solidFill>
                <a:latin typeface="PingFang SC"/>
                <a:ea typeface="PingFang SC"/>
              </a:rPr>
              <a:t>一个组件一段代码</a:t>
            </a:r>
          </a:p>
        </p:txBody>
      </p:sp>
      <p:sp>
        <p:nvSpPr>
          <p:cNvPr id="32" name="Chevron 31"/>
          <p:cNvSpPr/>
          <p:nvPr/>
        </p:nvSpPr>
        <p:spPr>
          <a:xfrm>
            <a:off x="8798052" y="2743200"/>
            <a:ext cx="146304" cy="274320"/>
          </a:xfrm>
          <a:prstGeom prst="chevron">
            <a:avLst/>
          </a:prstGeom>
          <a:solidFill>
            <a:srgbClr val="CFC8B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9015984" y="1783080"/>
            <a:ext cx="2487168" cy="3886200"/>
          </a:xfrm>
          <a:prstGeom prst="roundRect">
            <a:avLst>
              <a:gd name="adj" fmla="val 4411"/>
            </a:avLst>
          </a:prstGeom>
          <a:solidFill>
            <a:srgbClr val="FFFFFF"/>
          </a:solidFill>
          <a:ln w="6350">
            <a:solidFill>
              <a:srgbClr val="E2DED7"/>
            </a:solidFill>
          </a:ln>
          <a:effectLst>
            <a:outerShdw blurRad="100584" dist="27432" dir="5400000" algn="t" rotWithShape="0">
              <a:srgbClr val="1C2B3A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fig1_hd_8a6816155b08_w562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02620" y="1947672"/>
            <a:ext cx="1713895" cy="1828800"/>
          </a:xfrm>
          <a:prstGeom prst="rect">
            <a:avLst/>
          </a:prstGeom>
          <a:ln w="6350">
            <a:solidFill>
              <a:srgbClr val="E2DED7"/>
            </a:solidFill>
          </a:ln>
        </p:spPr>
      </p:pic>
      <p:sp>
        <p:nvSpPr>
          <p:cNvPr id="35" name="Rectangle 34"/>
          <p:cNvSpPr/>
          <p:nvPr/>
        </p:nvSpPr>
        <p:spPr>
          <a:xfrm>
            <a:off x="9198864" y="3941064"/>
            <a:ext cx="2121408" cy="10973"/>
          </a:xfrm>
          <a:prstGeom prst="rect">
            <a:avLst/>
          </a:prstGeom>
          <a:solidFill>
            <a:srgbClr val="E2DED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217152" y="4087368"/>
            <a:ext cx="212140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00"/>
              </a:lnSpc>
              <a:spcAft>
                <a:spcPts val="0"/>
              </a:spcAft>
            </a:pPr>
            <a:r>
              <a:rPr lang="zh-CN" sz="1250" b="1">
                <a:solidFill>
                  <a:srgbClr val="B4700F"/>
                </a:solidFill>
                <a:latin typeface="PingFang SC"/>
                <a:ea typeface="PingFang SC"/>
              </a:rPr>
              <a:t>第 4 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17152" y="4379976"/>
            <a:ext cx="2121408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48"/>
              </a:lnSpc>
              <a:spcAft>
                <a:spcPts val="0"/>
              </a:spcAft>
            </a:pPr>
            <a:r>
              <a:rPr lang="zh-CN" sz="1600" b="1">
                <a:solidFill>
                  <a:srgbClr val="1E2B3A"/>
                </a:solidFill>
                <a:latin typeface="PingFang SC"/>
                <a:ea typeface="PingFang SC"/>
              </a:rPr>
              <a:t>用 python-pptx 组合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17152" y="4837176"/>
            <a:ext cx="2084832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92"/>
              </a:lnSpc>
              <a:spcAft>
                <a:spcPts val="0"/>
              </a:spcAft>
            </a:pPr>
            <a:r>
              <a:rPr lang="zh-CN" sz="1400" b="0">
                <a:solidFill>
                  <a:srgbClr val="45525F"/>
                </a:solidFill>
                <a:latin typeface="PingFang SC"/>
                <a:ea typeface="PingFang SC"/>
              </a:rPr>
              <a:t>放回论文尺寸的 PPT，</a:t>
            </a:r>
          </a:p>
          <a:p>
            <a:pPr algn="l">
              <a:lnSpc>
                <a:spcPts val="1792"/>
              </a:lnSpc>
              <a:spcAft>
                <a:spcPts val="0"/>
              </a:spcAft>
            </a:pPr>
            <a:r>
              <a:rPr lang="zh-CN" sz="1400" b="0">
                <a:solidFill>
                  <a:srgbClr val="45525F"/>
                </a:solidFill>
                <a:latin typeface="PingFang SC"/>
                <a:ea typeface="PingFang SC"/>
              </a:rPr>
              <a:t>拼成一张能改的图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5925312"/>
            <a:ext cx="1081735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2304"/>
              </a:lnSpc>
              <a:spcAft>
                <a:spcPts val="0"/>
              </a:spcAft>
            </a:pPr>
            <a:r>
              <a:rPr lang="zh-CN" sz="1800" b="0">
                <a:solidFill>
                  <a:srgbClr val="45525F"/>
                </a:solidFill>
                <a:latin typeface="PingFang SC"/>
                <a:ea typeface="PingFang SC"/>
              </a:rPr>
              <a:t>AI 负责</a:t>
            </a:r>
            <a:r>
              <a:rPr lang="zh-CN" sz="1800" b="1">
                <a:solidFill>
                  <a:srgbClr val="B4700F"/>
                </a:solidFill>
                <a:latin typeface="PingFang SC"/>
                <a:ea typeface="PingFang SC"/>
              </a:rPr>
              <a:t>出图、写代码</a:t>
            </a:r>
            <a:r>
              <a:rPr lang="zh-CN" sz="1800" b="0">
                <a:solidFill>
                  <a:srgbClr val="45525F"/>
                </a:solidFill>
                <a:latin typeface="PingFang SC"/>
                <a:ea typeface="PingFang SC"/>
              </a:rPr>
              <a:t>；你负责</a:t>
            </a:r>
            <a:r>
              <a:rPr lang="zh-CN" sz="1800" b="1">
                <a:solidFill>
                  <a:srgbClr val="B4700F"/>
                </a:solidFill>
                <a:latin typeface="PingFang SC"/>
                <a:ea typeface="PingFang SC"/>
              </a:rPr>
              <a:t>挑选和提要求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88752" y="6446520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280"/>
              </a:lnSpc>
              <a:spcAft>
                <a:spcPts val="0"/>
              </a:spcAft>
            </a:pPr>
            <a:r>
              <a:rPr lang="zh-CN" sz="1000" b="0">
                <a:solidFill>
                  <a:srgbClr val="8592A0"/>
                </a:solidFill>
                <a:latin typeface="PingFang SC"/>
                <a:ea typeface="PingFang S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1298448"/>
            <a:ext cx="411480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264"/>
              </a:lnSpc>
              <a:spcAft>
                <a:spcPts val="0"/>
              </a:spcAft>
            </a:pPr>
            <a:r>
              <a:rPr lang="zh-CN" sz="8800" b="1">
                <a:solidFill>
                  <a:srgbClr val="D08A1E"/>
                </a:solidFill>
                <a:latin typeface="PingFang SC"/>
                <a:ea typeface="PingFang SC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788920"/>
            <a:ext cx="461772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864"/>
              </a:lnSpc>
              <a:spcAft>
                <a:spcPts val="0"/>
              </a:spcAft>
            </a:pPr>
            <a:r>
              <a:rPr lang="zh-CN" sz="3800" b="1">
                <a:solidFill>
                  <a:srgbClr val="1E2B3A"/>
                </a:solidFill>
                <a:latin typeface="PingFang SC"/>
                <a:ea typeface="PingFang SC"/>
              </a:rPr>
              <a:t>出多种风格</a:t>
            </a:r>
          </a:p>
        </p:txBody>
      </p:sp>
      <p:sp>
        <p:nvSpPr>
          <p:cNvPr id="4" name="Rectangle 3"/>
          <p:cNvSpPr/>
          <p:nvPr/>
        </p:nvSpPr>
        <p:spPr>
          <a:xfrm>
            <a:off x="804672" y="3639312"/>
            <a:ext cx="548640" cy="45720"/>
          </a:xfrm>
          <a:prstGeom prst="rect">
            <a:avLst/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3886200"/>
            <a:ext cx="429768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76"/>
              </a:lnSpc>
              <a:spcAft>
                <a:spcPts val="0"/>
              </a:spcAft>
            </a:pPr>
            <a:r>
              <a:rPr lang="zh-CN" sz="1700" b="0">
                <a:solidFill>
                  <a:srgbClr val="45525F"/>
                </a:solidFill>
                <a:latin typeface="PingFang SC"/>
                <a:ea typeface="PingFang SC"/>
              </a:rPr>
              <a:t>让 AI 一次出几版风格完全不同的，</a:t>
            </a:r>
          </a:p>
          <a:p>
            <a:pPr algn="l">
              <a:lnSpc>
                <a:spcPts val="2176"/>
              </a:lnSpc>
              <a:spcAft>
                <a:spcPts val="0"/>
              </a:spcAft>
            </a:pPr>
            <a:r>
              <a:rPr lang="zh-CN" sz="1700" b="0">
                <a:solidFill>
                  <a:srgbClr val="45525F"/>
                </a:solidFill>
                <a:latin typeface="PingFang SC"/>
                <a:ea typeface="PingFang SC"/>
              </a:rPr>
              <a:t>放在一起比</a:t>
            </a:r>
          </a:p>
        </p:txBody>
      </p:sp>
      <p:pic>
        <p:nvPicPr>
          <p:cNvPr id="6" name="Picture 5" descr="style_D_0ec956750c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330000">
            <a:off x="5897880" y="786384"/>
            <a:ext cx="5120640" cy="1856232"/>
          </a:xfrm>
          <a:prstGeom prst="rect">
            <a:avLst/>
          </a:prstGeom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pic>
        <p:nvPicPr>
          <p:cNvPr id="7" name="Picture 6" descr="style_C_3fe89b8059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50000">
            <a:off x="6172200" y="2004060"/>
            <a:ext cx="5120640" cy="1798320"/>
          </a:xfrm>
          <a:prstGeom prst="rect">
            <a:avLst/>
          </a:prstGeom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pic>
        <p:nvPicPr>
          <p:cNvPr id="8" name="Picture 7" descr="style_B_6233f79ef8c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480000">
            <a:off x="6446520" y="3151632"/>
            <a:ext cx="5120640" cy="1880616"/>
          </a:xfrm>
          <a:prstGeom prst="rect">
            <a:avLst/>
          </a:prstGeom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pic>
        <p:nvPicPr>
          <p:cNvPr id="9" name="Picture 8" descr="style_A_d6307d751b8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80000">
            <a:off x="6720840" y="4299204"/>
            <a:ext cx="5120640" cy="1962912"/>
          </a:xfrm>
          <a:prstGeom prst="rect">
            <a:avLst/>
          </a:prstGeom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29768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00"/>
              </a:lnSpc>
              <a:spcAft>
                <a:spcPts val="0"/>
              </a:spcAft>
            </a:pPr>
            <a:r>
              <a:rPr lang="zh-CN" sz="1250" b="1">
                <a:solidFill>
                  <a:srgbClr val="B4700F"/>
                </a:solidFill>
                <a:latin typeface="PingFang SC"/>
                <a:ea typeface="PingFang SC"/>
              </a:rPr>
              <a:t>第 1 步 · 出多种风格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94944"/>
            <a:ext cx="10817352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711"/>
              </a:lnSpc>
              <a:spcAft>
                <a:spcPts val="0"/>
              </a:spcAft>
            </a:pPr>
            <a:r>
              <a:rPr lang="zh-CN" sz="2900" b="1">
                <a:solidFill>
                  <a:srgbClr val="1E2B3A"/>
                </a:solidFill>
                <a:latin typeface="PingFang SC"/>
                <a:ea typeface="PingFang SC"/>
              </a:rPr>
              <a:t>一次出 4 版，风格要差得开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43584"/>
            <a:ext cx="10817352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84"/>
              </a:lnSpc>
              <a:spcAft>
                <a:spcPts val="0"/>
              </a:spcAft>
            </a:pPr>
            <a:r>
              <a:rPr lang="zh-CN" sz="1550" b="0">
                <a:solidFill>
                  <a:srgbClr val="45525F"/>
                </a:solidFill>
                <a:latin typeface="PingFang SC"/>
                <a:ea typeface="PingFang SC"/>
              </a:rPr>
              <a:t>Fig. 2 的第一轮：同一个问题，画成四种完全不同的图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475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2047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DDD8C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6619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DDD8C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1191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DDD8C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proc_fig2_four_grid_4ab50879ef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259530"/>
            <a:ext cx="7635240" cy="3390500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1" name="Rounded Rectangle 10"/>
          <p:cNvSpPr/>
          <p:nvPr/>
        </p:nvSpPr>
        <p:spPr>
          <a:xfrm>
            <a:off x="8595360" y="2570426"/>
            <a:ext cx="2907792" cy="1005840"/>
          </a:xfrm>
          <a:prstGeom prst="roundRect">
            <a:avLst>
              <a:gd name="adj" fmla="val 12727"/>
            </a:avLst>
          </a:prstGeom>
          <a:solidFill>
            <a:srgbClr val="FBEFD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78240" y="2570426"/>
            <a:ext cx="2542032" cy="10058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</a:pPr>
            <a:r>
              <a:rPr lang="zh-CN" sz="1500" b="0">
                <a:solidFill>
                  <a:srgbClr val="1E2B3A"/>
                </a:solidFill>
                <a:latin typeface="PingFang SC"/>
                <a:ea typeface="PingFang SC"/>
              </a:rPr>
              <a:t>“看着还是有点简单……</a:t>
            </a:r>
          </a:p>
          <a:p>
            <a:pPr algn="l">
              <a:lnSpc>
                <a:spcPts val="1920"/>
              </a:lnSpc>
              <a:spcAft>
                <a:spcPts val="0"/>
              </a:spcAft>
            </a:pPr>
            <a:r>
              <a:rPr lang="zh-CN" sz="1500" b="0">
                <a:solidFill>
                  <a:srgbClr val="1E2B3A"/>
                </a:solidFill>
                <a:latin typeface="PingFang SC"/>
                <a:ea typeface="PingFang SC"/>
              </a:rPr>
              <a:t>你可以多给我几个版本，</a:t>
            </a:r>
          </a:p>
          <a:p>
            <a:pPr algn="l">
              <a:lnSpc>
                <a:spcPts val="1920"/>
              </a:lnSpc>
              <a:spcAft>
                <a:spcPts val="0"/>
              </a:spcAft>
            </a:pPr>
            <a:r>
              <a:rPr lang="zh-CN" sz="1500" b="0">
                <a:solidFill>
                  <a:srgbClr val="1E2B3A"/>
                </a:solidFill>
                <a:latin typeface="PingFang SC"/>
                <a:ea typeface="PingFang SC"/>
              </a:rPr>
              <a:t>我挑选一下”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3795722"/>
            <a:ext cx="290779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00"/>
              </a:lnSpc>
              <a:spcAft>
                <a:spcPts val="0"/>
              </a:spcAft>
            </a:pPr>
            <a:r>
              <a:rPr lang="zh-CN" b="1" dirty="0">
                <a:solidFill>
                  <a:srgbClr val="B4700F"/>
                </a:solidFill>
                <a:latin typeface="PingFang SC"/>
                <a:ea typeface="PingFang SC"/>
              </a:rPr>
              <a:t>AI 出的 4 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134050"/>
            <a:ext cx="2907792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48"/>
              </a:lnSpc>
              <a:spcAft>
                <a:spcPts val="0"/>
              </a:spcAft>
            </a:pPr>
            <a:r>
              <a:rPr lang="zh-CN" sz="1600" b="1">
                <a:solidFill>
                  <a:srgbClr val="B4700F"/>
                </a:solidFill>
                <a:latin typeface="PingFang SC"/>
                <a:ea typeface="PingFang SC"/>
              </a:rPr>
              <a:t>A  </a:t>
            </a:r>
            <a:r>
              <a:rPr lang="zh-CN" sz="1600" b="0">
                <a:solidFill>
                  <a:srgbClr val="1E2B3A"/>
                </a:solidFill>
                <a:latin typeface="PingFang SC"/>
                <a:ea typeface="PingFang SC"/>
              </a:rPr>
              <a:t>工程系统图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4518098"/>
            <a:ext cx="2907792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48"/>
              </a:lnSpc>
              <a:spcAft>
                <a:spcPts val="0"/>
              </a:spcAft>
            </a:pPr>
            <a:r>
              <a:rPr lang="zh-CN" sz="1600" b="1">
                <a:solidFill>
                  <a:srgbClr val="B4700F"/>
                </a:solidFill>
                <a:latin typeface="PingFang SC"/>
                <a:ea typeface="PingFang SC"/>
              </a:rPr>
              <a:t>B  </a:t>
            </a:r>
            <a:r>
              <a:rPr lang="zh-CN" sz="1600" b="0">
                <a:solidFill>
                  <a:srgbClr val="1E2B3A"/>
                </a:solidFill>
                <a:latin typeface="PingFang SC"/>
                <a:ea typeface="PingFang SC"/>
              </a:rPr>
              <a:t>博弈树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902146"/>
            <a:ext cx="2907792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48"/>
              </a:lnSpc>
              <a:spcAft>
                <a:spcPts val="0"/>
              </a:spcAft>
            </a:pPr>
            <a:r>
              <a:rPr lang="zh-CN" sz="1600" b="1">
                <a:solidFill>
                  <a:srgbClr val="B4700F"/>
                </a:solidFill>
                <a:latin typeface="PingFang SC"/>
                <a:ea typeface="PingFang SC"/>
              </a:rPr>
              <a:t>C  </a:t>
            </a:r>
            <a:r>
              <a:rPr lang="zh-CN" sz="1600" b="0">
                <a:solidFill>
                  <a:srgbClr val="1E2B3A"/>
                </a:solidFill>
                <a:latin typeface="PingFang SC"/>
                <a:ea typeface="PingFang SC"/>
              </a:rPr>
              <a:t>数学结构图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5286194"/>
            <a:ext cx="2907792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048"/>
              </a:lnSpc>
              <a:spcAft>
                <a:spcPts val="0"/>
              </a:spcAft>
            </a:pPr>
            <a:r>
              <a:rPr lang="zh-CN" sz="1600" b="1">
                <a:solidFill>
                  <a:srgbClr val="B4700F"/>
                </a:solidFill>
                <a:latin typeface="PingFang SC"/>
                <a:ea typeface="PingFang SC"/>
              </a:rPr>
              <a:t>D  </a:t>
            </a:r>
            <a:r>
              <a:rPr lang="zh-CN" sz="1600" b="0">
                <a:solidFill>
                  <a:srgbClr val="1E2B3A"/>
                </a:solidFill>
                <a:latin typeface="PingFang SC"/>
                <a:ea typeface="PingFang SC"/>
              </a:rPr>
              <a:t>时序泳道图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88752" y="6446520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280"/>
              </a:lnSpc>
              <a:spcAft>
                <a:spcPts val="0"/>
              </a:spcAft>
            </a:pPr>
            <a:r>
              <a:rPr lang="zh-CN" sz="1000" b="0">
                <a:solidFill>
                  <a:srgbClr val="8592A0"/>
                </a:solidFill>
                <a:latin typeface="PingFang SC"/>
                <a:ea typeface="PingFang SC"/>
              </a:rPr>
              <a:t>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B3F0ED6-2BFF-E299-D4B8-06E3EA8A4D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835362" cy="6858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E882F1E-8897-6209-054C-A92EE4A260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5362" y="0"/>
            <a:ext cx="3924398" cy="6858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A8C611F-AAC2-08A6-46C0-F3AB36D19B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9760" y="3633532"/>
            <a:ext cx="2432240" cy="32258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C37C04C-2656-0C80-26C9-BF86DFE4CE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9760" y="0"/>
            <a:ext cx="2432240" cy="2927684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156696AA-8DC4-38AF-9C53-D81AA781DB88}"/>
              </a:ext>
            </a:extLst>
          </p:cNvPr>
          <p:cNvSpPr/>
          <p:nvPr/>
        </p:nvSpPr>
        <p:spPr>
          <a:xfrm>
            <a:off x="9759760" y="2927684"/>
            <a:ext cx="2432240" cy="70584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815371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29768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00"/>
              </a:lnSpc>
              <a:spcAft>
                <a:spcPts val="0"/>
              </a:spcAft>
            </a:pPr>
            <a:r>
              <a:rPr lang="zh-CN" sz="1250" b="1">
                <a:solidFill>
                  <a:srgbClr val="B4700F"/>
                </a:solidFill>
                <a:latin typeface="PingFang SC"/>
                <a:ea typeface="PingFang SC"/>
              </a:rPr>
              <a:t>第 1 步 · 出多种风格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94944"/>
            <a:ext cx="10817352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711"/>
              </a:lnSpc>
              <a:spcAft>
                <a:spcPts val="0"/>
              </a:spcAft>
            </a:pPr>
            <a:r>
              <a:rPr lang="zh-CN" sz="2900" b="1">
                <a:solidFill>
                  <a:srgbClr val="1E2B3A"/>
                </a:solidFill>
                <a:latin typeface="PingFang SC"/>
                <a:ea typeface="PingFang SC"/>
              </a:rPr>
              <a:t>两种出法：直接出图，或者写代码出草稿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475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2047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DDD8C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6619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DDD8C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1191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DDD8C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5257800" cy="4315968"/>
          </a:xfrm>
          <a:prstGeom prst="roundRect">
            <a:avLst>
              <a:gd name="adj" fmla="val 2542"/>
            </a:avLst>
          </a:prstGeom>
          <a:solidFill>
            <a:srgbClr val="FFFFFF"/>
          </a:solidFill>
          <a:ln w="6350">
            <a:solidFill>
              <a:srgbClr val="E2DED7"/>
            </a:solidFill>
          </a:ln>
          <a:effectLst>
            <a:outerShdw blurRad="100584" dist="27432" dir="5400000" algn="t" rotWithShape="0">
              <a:srgbClr val="1C2B3A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14400" y="1691640"/>
            <a:ext cx="1600200" cy="402336"/>
          </a:xfrm>
          <a:prstGeom prst="roundRect">
            <a:avLst>
              <a:gd name="adj" fmla="val 50000"/>
            </a:avLst>
          </a:prstGeom>
          <a:solidFill>
            <a:srgbClr val="ECEEF1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783080"/>
            <a:ext cx="16002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728"/>
              </a:lnSpc>
              <a:spcAft>
                <a:spcPts val="0"/>
              </a:spcAft>
            </a:pPr>
            <a:r>
              <a:rPr lang="zh-CN" sz="1350" b="1">
                <a:solidFill>
                  <a:srgbClr val="45525F"/>
                </a:solidFill>
                <a:latin typeface="PingFang SC"/>
                <a:ea typeface="PingFang SC"/>
              </a:rPr>
              <a:t>AI 直接出图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1691640"/>
            <a:ext cx="22860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792"/>
              </a:lnSpc>
              <a:spcAft>
                <a:spcPts val="0"/>
              </a:spcAft>
            </a:pPr>
            <a:r>
              <a:rPr lang="zh-CN" sz="1400" b="0">
                <a:solidFill>
                  <a:srgbClr val="8592A0"/>
                </a:solidFill>
                <a:latin typeface="PingFang SC"/>
                <a:ea typeface="PingFang SC"/>
              </a:rPr>
              <a:t>适合找方向</a:t>
            </a:r>
          </a:p>
        </p:txBody>
      </p:sp>
      <p:pic>
        <p:nvPicPr>
          <p:cNvPr id="12" name="Picture 11" descr="proc_ai_draft_9e59311a8a1f_w10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070" y="2286000"/>
            <a:ext cx="3223260" cy="2148840"/>
          </a:xfrm>
          <a:prstGeom prst="rect">
            <a:avLst/>
          </a:prstGeom>
          <a:ln w="6350">
            <a:solidFill>
              <a:srgbClr val="E2DED7"/>
            </a:solidFill>
          </a:ln>
        </p:spPr>
      </p:pic>
      <p:sp>
        <p:nvSpPr>
          <p:cNvPr id="13" name="Oval 12"/>
          <p:cNvSpPr/>
          <p:nvPr/>
        </p:nvSpPr>
        <p:spPr>
          <a:xfrm>
            <a:off x="978408" y="4690872"/>
            <a:ext cx="137160" cy="137160"/>
          </a:xfrm>
          <a:prstGeom prst="ellipse">
            <a:avLst/>
          </a:prstGeom>
          <a:solidFill>
            <a:srgbClr val="2B8A7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34440" y="4617720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55"/>
              </a:lnSpc>
              <a:spcAft>
                <a:spcPts val="0"/>
              </a:spcAft>
            </a:pPr>
            <a:r>
              <a:rPr lang="zh-CN" sz="1450" b="0">
                <a:solidFill>
                  <a:srgbClr val="45525F"/>
                </a:solidFill>
                <a:latin typeface="PingFang SC"/>
                <a:ea typeface="PingFang SC"/>
              </a:rPr>
              <a:t>几秒钟出好几张，适合找感觉</a:t>
            </a:r>
          </a:p>
        </p:txBody>
      </p:sp>
      <p:sp>
        <p:nvSpPr>
          <p:cNvPr id="15" name="Oval 14"/>
          <p:cNvSpPr/>
          <p:nvPr/>
        </p:nvSpPr>
        <p:spPr>
          <a:xfrm>
            <a:off x="978408" y="5056632"/>
            <a:ext cx="137160" cy="137160"/>
          </a:xfrm>
          <a:prstGeom prst="ellipse">
            <a:avLst/>
          </a:prstGeom>
          <a:solidFill>
            <a:srgbClr val="C4546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34440" y="4983480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55"/>
              </a:lnSpc>
              <a:spcAft>
                <a:spcPts val="0"/>
              </a:spcAft>
            </a:pPr>
            <a:r>
              <a:rPr lang="zh-CN" sz="1450" b="0">
                <a:solidFill>
                  <a:srgbClr val="45525F"/>
                </a:solidFill>
                <a:latin typeface="PingFang SC"/>
                <a:ea typeface="PingFang SC"/>
              </a:rPr>
              <a:t>细节画不准，字常写错</a:t>
            </a:r>
          </a:p>
        </p:txBody>
      </p:sp>
      <p:sp>
        <p:nvSpPr>
          <p:cNvPr id="17" name="Oval 16"/>
          <p:cNvSpPr/>
          <p:nvPr/>
        </p:nvSpPr>
        <p:spPr>
          <a:xfrm>
            <a:off x="978408" y="5422392"/>
            <a:ext cx="137160" cy="137160"/>
          </a:xfrm>
          <a:prstGeom prst="ellipse">
            <a:avLst/>
          </a:prstGeom>
          <a:solidFill>
            <a:srgbClr val="C4546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34440" y="5349240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55"/>
              </a:lnSpc>
              <a:spcAft>
                <a:spcPts val="0"/>
              </a:spcAft>
            </a:pPr>
            <a:r>
              <a:rPr lang="zh-CN" sz="1450" b="0">
                <a:solidFill>
                  <a:srgbClr val="45525F"/>
                </a:solidFill>
                <a:latin typeface="PingFang SC"/>
                <a:ea typeface="PingFang SC"/>
              </a:rPr>
              <a:t>期刊一般不允许直接用，只能当参考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5352" y="1481328"/>
            <a:ext cx="5257800" cy="4315968"/>
          </a:xfrm>
          <a:prstGeom prst="roundRect">
            <a:avLst>
              <a:gd name="adj" fmla="val 2542"/>
            </a:avLst>
          </a:prstGeom>
          <a:solidFill>
            <a:srgbClr val="FFFFFF"/>
          </a:solidFill>
          <a:ln w="6350">
            <a:solidFill>
              <a:srgbClr val="E2DED7"/>
            </a:solidFill>
          </a:ln>
          <a:effectLst>
            <a:outerShdw blurRad="100584" dist="27432" dir="5400000" algn="t" rotWithShape="0">
              <a:srgbClr val="1C2B3A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473952" y="1691640"/>
            <a:ext cx="1965960" cy="402336"/>
          </a:xfrm>
          <a:prstGeom prst="roundRect">
            <a:avLst>
              <a:gd name="adj" fmla="val 50000"/>
            </a:avLst>
          </a:prstGeom>
          <a:solidFill>
            <a:srgbClr val="FBEFD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73952" y="1783080"/>
            <a:ext cx="196596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728"/>
              </a:lnSpc>
              <a:spcAft>
                <a:spcPts val="0"/>
              </a:spcAft>
            </a:pPr>
            <a:r>
              <a:rPr lang="zh-CN" sz="1350" b="1">
                <a:solidFill>
                  <a:srgbClr val="B4700F"/>
                </a:solidFill>
                <a:latin typeface="PingFang SC"/>
                <a:ea typeface="PingFang SC"/>
              </a:rPr>
              <a:t>AI 写代码出草稿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77072" y="1691640"/>
            <a:ext cx="22860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792"/>
              </a:lnSpc>
              <a:spcAft>
                <a:spcPts val="0"/>
              </a:spcAft>
            </a:pPr>
            <a:r>
              <a:rPr lang="zh-CN" sz="1400" b="0">
                <a:solidFill>
                  <a:srgbClr val="8592A0"/>
                </a:solidFill>
                <a:latin typeface="PingFang SC"/>
                <a:ea typeface="PingFang SC"/>
              </a:rPr>
              <a:t>适合定稿</a:t>
            </a:r>
          </a:p>
        </p:txBody>
      </p:sp>
      <p:pic>
        <p:nvPicPr>
          <p:cNvPr id="23" name="Picture 22" descr="proc_accounts_four_5b98eef67c0b_w157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2327291"/>
            <a:ext cx="4800600" cy="2066258"/>
          </a:xfrm>
          <a:prstGeom prst="rect">
            <a:avLst/>
          </a:prstGeom>
          <a:ln w="6350">
            <a:solidFill>
              <a:srgbClr val="E2DED7"/>
            </a:solidFill>
          </a:ln>
        </p:spPr>
      </p:pic>
      <p:sp>
        <p:nvSpPr>
          <p:cNvPr id="24" name="Oval 23"/>
          <p:cNvSpPr/>
          <p:nvPr/>
        </p:nvSpPr>
        <p:spPr>
          <a:xfrm>
            <a:off x="6537960" y="4690872"/>
            <a:ext cx="137160" cy="137160"/>
          </a:xfrm>
          <a:prstGeom prst="ellipse">
            <a:avLst/>
          </a:prstGeom>
          <a:solidFill>
            <a:srgbClr val="2B8A7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93992" y="4617720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55"/>
              </a:lnSpc>
              <a:spcAft>
                <a:spcPts val="0"/>
              </a:spcAft>
            </a:pPr>
            <a:r>
              <a:rPr lang="zh-CN" sz="1450" b="0">
                <a:solidFill>
                  <a:srgbClr val="45525F"/>
                </a:solidFill>
                <a:latin typeface="PingFang SC"/>
                <a:ea typeface="PingFang SC"/>
              </a:rPr>
              <a:t>选中的那版本身就是代码，直接接着改</a:t>
            </a:r>
          </a:p>
        </p:txBody>
      </p:sp>
      <p:sp>
        <p:nvSpPr>
          <p:cNvPr id="26" name="Oval 25"/>
          <p:cNvSpPr/>
          <p:nvPr/>
        </p:nvSpPr>
        <p:spPr>
          <a:xfrm>
            <a:off x="6537960" y="5056632"/>
            <a:ext cx="137160" cy="137160"/>
          </a:xfrm>
          <a:prstGeom prst="ellipse">
            <a:avLst/>
          </a:prstGeom>
          <a:solidFill>
            <a:srgbClr val="2B8A7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93992" y="4983480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55"/>
              </a:lnSpc>
              <a:spcAft>
                <a:spcPts val="0"/>
              </a:spcAft>
            </a:pPr>
            <a:r>
              <a:rPr lang="zh-CN" sz="1450" b="0">
                <a:solidFill>
                  <a:srgbClr val="45525F"/>
                </a:solidFill>
                <a:latin typeface="PingFang SC"/>
                <a:ea typeface="PingFang SC"/>
              </a:rPr>
              <a:t>尺寸、字号一开始就是论文里的</a:t>
            </a:r>
          </a:p>
        </p:txBody>
      </p:sp>
      <p:sp>
        <p:nvSpPr>
          <p:cNvPr id="28" name="Oval 27"/>
          <p:cNvSpPr/>
          <p:nvPr/>
        </p:nvSpPr>
        <p:spPr>
          <a:xfrm>
            <a:off x="6537960" y="5422392"/>
            <a:ext cx="137160" cy="137160"/>
          </a:xfrm>
          <a:prstGeom prst="ellipse">
            <a:avLst/>
          </a:prstGeom>
          <a:solidFill>
            <a:srgbClr val="C4546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793992" y="5349240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55"/>
              </a:lnSpc>
              <a:spcAft>
                <a:spcPts val="0"/>
              </a:spcAft>
            </a:pPr>
            <a:r>
              <a:rPr lang="zh-CN" sz="1450" b="0">
                <a:solidFill>
                  <a:srgbClr val="45525F"/>
                </a:solidFill>
                <a:latin typeface="PingFang SC"/>
                <a:ea typeface="PingFang SC"/>
              </a:rPr>
              <a:t>比直接出图慢一些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943600"/>
            <a:ext cx="10817352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2176"/>
              </a:lnSpc>
              <a:spcAft>
                <a:spcPts val="0"/>
              </a:spcAft>
            </a:pPr>
            <a:r>
              <a:rPr lang="zh-CN" sz="1700" b="0" dirty="0">
                <a:solidFill>
                  <a:srgbClr val="45525F"/>
                </a:solidFill>
                <a:latin typeface="PingFang SC"/>
                <a:ea typeface="PingFang SC"/>
              </a:rPr>
              <a:t>做法：先</a:t>
            </a:r>
            <a:r>
              <a:rPr lang="zh-CN" sz="1700" b="1" dirty="0">
                <a:solidFill>
                  <a:srgbClr val="B4700F"/>
                </a:solidFill>
                <a:latin typeface="PingFang SC"/>
                <a:ea typeface="PingFang SC"/>
              </a:rPr>
              <a:t>出图找感觉</a:t>
            </a:r>
            <a:r>
              <a:rPr lang="zh-CN" sz="1700" b="0" dirty="0">
                <a:solidFill>
                  <a:srgbClr val="45525F"/>
                </a:solidFill>
                <a:latin typeface="PingFang SC"/>
                <a:ea typeface="PingFang SC"/>
              </a:rPr>
              <a:t>，再让</a:t>
            </a:r>
            <a:r>
              <a:rPr lang="zh-CN" sz="1700" b="1" dirty="0">
                <a:solidFill>
                  <a:srgbClr val="B4700F"/>
                </a:solidFill>
                <a:latin typeface="PingFang SC"/>
                <a:ea typeface="PingFang SC"/>
              </a:rPr>
              <a:t>代码出几版正式草稿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88752" y="6446520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280"/>
              </a:lnSpc>
              <a:spcAft>
                <a:spcPts val="0"/>
              </a:spcAft>
            </a:pPr>
            <a:r>
              <a:rPr lang="zh-CN" sz="1000" b="0">
                <a:solidFill>
                  <a:srgbClr val="8592A0"/>
                </a:solidFill>
                <a:latin typeface="PingFang SC"/>
                <a:ea typeface="PingFang SC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29768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00"/>
              </a:lnSpc>
              <a:spcAft>
                <a:spcPts val="0"/>
              </a:spcAft>
            </a:pPr>
            <a:r>
              <a:rPr lang="zh-CN" sz="1250" b="1">
                <a:solidFill>
                  <a:srgbClr val="B4700F"/>
                </a:solidFill>
                <a:latin typeface="PingFang SC"/>
                <a:ea typeface="PingFang SC"/>
              </a:rPr>
              <a:t>第 1 步 · 出多种风格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94944"/>
            <a:ext cx="10817352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711"/>
              </a:lnSpc>
              <a:spcAft>
                <a:spcPts val="0"/>
              </a:spcAft>
            </a:pPr>
            <a:r>
              <a:rPr lang="zh-CN" sz="2900" b="1">
                <a:solidFill>
                  <a:srgbClr val="1E2B3A"/>
                </a:solidFill>
                <a:latin typeface="PingFang SC"/>
                <a:ea typeface="PingFang SC"/>
              </a:rPr>
              <a:t>都不满意？就继续要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43584"/>
            <a:ext cx="10817352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84"/>
              </a:lnSpc>
              <a:spcAft>
                <a:spcPts val="0"/>
              </a:spcAft>
            </a:pPr>
            <a:r>
              <a:rPr lang="zh-CN" sz="1550" b="0">
                <a:solidFill>
                  <a:srgbClr val="45525F"/>
                </a:solidFill>
                <a:latin typeface="PingFang SC"/>
                <a:ea typeface="PingFang SC"/>
              </a:rPr>
              <a:t>Fig. 3 底部那一条：3 版不行，就要到 7 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475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2047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DDD8C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6619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DDD8C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1191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DDD8C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96112" y="2011680"/>
            <a:ext cx="27432" cy="2743200"/>
          </a:xfrm>
          <a:prstGeom prst="rect">
            <a:avLst/>
          </a:prstGeom>
          <a:solidFill>
            <a:srgbClr val="DDD6C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86384" y="1965960"/>
            <a:ext cx="246888" cy="246888"/>
          </a:xfrm>
          <a:prstGeom prst="ellipse">
            <a:avLst/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280160" y="1783080"/>
            <a:ext cx="4526280" cy="621792"/>
          </a:xfrm>
          <a:prstGeom prst="roundRect">
            <a:avLst>
              <a:gd name="adj" fmla="val 20588"/>
            </a:avLst>
          </a:prstGeom>
          <a:solidFill>
            <a:srgbClr val="FBEFD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63040" y="1783080"/>
            <a:ext cx="4206240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</a:pPr>
            <a:r>
              <a:rPr lang="zh-CN" sz="1500" b="0">
                <a:solidFill>
                  <a:srgbClr val="1E2B3A"/>
                </a:solidFill>
                <a:latin typeface="PingFang SC"/>
                <a:ea typeface="PingFang SC"/>
              </a:rPr>
              <a:t>“感觉还是不太好看”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496312"/>
            <a:ext cx="45262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92"/>
              </a:lnSpc>
              <a:spcAft>
                <a:spcPts val="0"/>
              </a:spcAft>
            </a:pPr>
            <a:r>
              <a:rPr lang="zh-CN" sz="1400" b="0">
                <a:solidFill>
                  <a:srgbClr val="45525F"/>
                </a:solidFill>
                <a:latin typeface="PingFang SC"/>
                <a:ea typeface="PingFang SC"/>
              </a:rPr>
              <a:t>→ AI 出了 3 个方向：分层立体、简洁平面、分步插图</a:t>
            </a:r>
          </a:p>
        </p:txBody>
      </p:sp>
      <p:sp>
        <p:nvSpPr>
          <p:cNvPr id="14" name="Oval 13"/>
          <p:cNvSpPr/>
          <p:nvPr/>
        </p:nvSpPr>
        <p:spPr>
          <a:xfrm>
            <a:off x="786384" y="3337560"/>
            <a:ext cx="246888" cy="246888"/>
          </a:xfrm>
          <a:prstGeom prst="ellipse">
            <a:avLst/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280160" y="3154680"/>
            <a:ext cx="4526280" cy="621792"/>
          </a:xfrm>
          <a:prstGeom prst="roundRect">
            <a:avLst>
              <a:gd name="adj" fmla="val 20588"/>
            </a:avLst>
          </a:prstGeom>
          <a:solidFill>
            <a:srgbClr val="FBEFD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463040" y="3154680"/>
            <a:ext cx="4206240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</a:pPr>
            <a:r>
              <a:rPr lang="zh-CN" sz="1500" b="0">
                <a:solidFill>
                  <a:srgbClr val="1E2B3A"/>
                </a:solidFill>
                <a:latin typeface="PingFang SC"/>
                <a:ea typeface="PingFang SC"/>
              </a:rPr>
              <a:t>“你再多做几种风格的，然后我再挑选”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867912"/>
            <a:ext cx="45262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92"/>
              </a:lnSpc>
              <a:spcAft>
                <a:spcPts val="0"/>
              </a:spcAft>
            </a:pPr>
            <a:r>
              <a:rPr lang="zh-CN" sz="1400" b="0">
                <a:solidFill>
                  <a:srgbClr val="45525F"/>
                </a:solidFill>
                <a:latin typeface="PingFang SC"/>
                <a:ea typeface="PingFang SC"/>
              </a:rPr>
              <a:t>→ AI 又加了 4 种，一共 7 种（A–G）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" y="4709160"/>
            <a:ext cx="246888" cy="246888"/>
          </a:xfrm>
          <a:prstGeom prst="ellipse">
            <a:avLst/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280160" y="4526280"/>
            <a:ext cx="4526280" cy="621792"/>
          </a:xfrm>
          <a:prstGeom prst="roundRect">
            <a:avLst>
              <a:gd name="adj" fmla="val 20588"/>
            </a:avLst>
          </a:prstGeom>
          <a:solidFill>
            <a:srgbClr val="FBEFD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463040" y="4526280"/>
            <a:ext cx="4206240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</a:pPr>
            <a:r>
              <a:rPr lang="zh-CN" sz="1500" b="0">
                <a:solidFill>
                  <a:srgbClr val="1E2B3A"/>
                </a:solidFill>
                <a:latin typeface="PingFang SC"/>
                <a:ea typeface="PingFang SC"/>
              </a:rPr>
              <a:t>“感觉都是平平无奇啊”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5239512"/>
            <a:ext cx="45262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92"/>
              </a:lnSpc>
              <a:spcAft>
                <a:spcPts val="0"/>
              </a:spcAft>
            </a:pPr>
            <a:r>
              <a:rPr lang="zh-CN" sz="1400" b="0">
                <a:solidFill>
                  <a:srgbClr val="45525F"/>
                </a:solidFill>
                <a:latin typeface="PingFang SC"/>
                <a:ea typeface="PingFang SC"/>
              </a:rPr>
              <a:t>→ AI 不再接着猜，先问清楚你要哪种感觉（第 2 步）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1481328"/>
            <a:ext cx="5330952" cy="4800600"/>
          </a:xfrm>
          <a:prstGeom prst="roundRect">
            <a:avLst>
              <a:gd name="adj" fmla="val 2285"/>
            </a:avLst>
          </a:prstGeom>
          <a:solidFill>
            <a:srgbClr val="FFFFFF"/>
          </a:solidFill>
          <a:ln w="6350">
            <a:solidFill>
              <a:srgbClr val="E2DED7"/>
            </a:solidFill>
          </a:ln>
          <a:effectLst>
            <a:outerShdw blurRad="100584" dist="27432" dir="5400000" algn="t" rotWithShape="0">
              <a:srgbClr val="1C2B3A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73368" y="1664208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00"/>
              </a:lnSpc>
              <a:spcAft>
                <a:spcPts val="0"/>
              </a:spcAft>
            </a:pPr>
            <a:r>
              <a:rPr lang="zh-CN" sz="1250" b="1">
                <a:solidFill>
                  <a:srgbClr val="B4700F"/>
                </a:solidFill>
                <a:latin typeface="PingFang SC"/>
                <a:ea typeface="PingFang SC"/>
              </a:rPr>
              <a:t>第 1 轮 · 3 版</a:t>
            </a:r>
          </a:p>
        </p:txBody>
      </p:sp>
      <p:sp>
        <p:nvSpPr>
          <p:cNvPr id="24" name="Oval 23"/>
          <p:cNvSpPr/>
          <p:nvPr/>
        </p:nvSpPr>
        <p:spPr>
          <a:xfrm>
            <a:off x="6373368" y="2065375"/>
            <a:ext cx="256032" cy="256032"/>
          </a:xfrm>
          <a:prstGeom prst="ellipse">
            <a:avLst/>
          </a:prstGeom>
          <a:solidFill>
            <a:srgbClr val="D08A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408"/>
              </a:lnSpc>
              <a:spcAft>
                <a:spcPts val="0"/>
              </a:spcAft>
            </a:pPr>
            <a:r>
              <a:rPr lang="zh-CN" sz="1100" b="1">
                <a:solidFill>
                  <a:srgbClr val="FFFFFF"/>
                </a:solidFill>
                <a:latin typeface="PingFang SC"/>
                <a:ea typeface="PingFang SC"/>
              </a:rPr>
              <a:t>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02552" y="2056231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00"/>
              </a:lnSpc>
              <a:spcAft>
                <a:spcPts val="0"/>
              </a:spcAft>
            </a:pPr>
            <a:r>
              <a:rPr lang="zh-CN" sz="1250" b="0">
                <a:solidFill>
                  <a:srgbClr val="1E2B3A"/>
                </a:solidFill>
                <a:latin typeface="PingFang SC"/>
                <a:ea typeface="PingFang SC"/>
              </a:rPr>
              <a:t>分层立体</a:t>
            </a:r>
          </a:p>
        </p:txBody>
      </p:sp>
      <p:pic>
        <p:nvPicPr>
          <p:cNvPr id="26" name="Picture 25" descr="strip_A_026f950b_62294ab7788e_w12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993392"/>
            <a:ext cx="3703320" cy="399999"/>
          </a:xfrm>
          <a:prstGeom prst="rect">
            <a:avLst/>
          </a:prstGeom>
        </p:spPr>
      </p:pic>
      <p:sp>
        <p:nvSpPr>
          <p:cNvPr id="27" name="Oval 26"/>
          <p:cNvSpPr/>
          <p:nvPr/>
        </p:nvSpPr>
        <p:spPr>
          <a:xfrm>
            <a:off x="6373368" y="2594421"/>
            <a:ext cx="256032" cy="256032"/>
          </a:xfrm>
          <a:prstGeom prst="ellipse">
            <a:avLst/>
          </a:prstGeom>
          <a:solidFill>
            <a:srgbClr val="D08A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408"/>
              </a:lnSpc>
              <a:spcAft>
                <a:spcPts val="0"/>
              </a:spcAft>
            </a:pPr>
            <a:r>
              <a:rPr lang="zh-CN" sz="1100" b="1">
                <a:solidFill>
                  <a:srgbClr val="FFFFFF"/>
                </a:solidFill>
                <a:latin typeface="PingFang SC"/>
                <a:ea typeface="PingFang SC"/>
              </a:rPr>
              <a:t>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02552" y="2585277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00"/>
              </a:lnSpc>
              <a:spcAft>
                <a:spcPts val="0"/>
              </a:spcAft>
            </a:pPr>
            <a:r>
              <a:rPr lang="zh-CN" sz="1250" b="0">
                <a:solidFill>
                  <a:srgbClr val="1E2B3A"/>
                </a:solidFill>
                <a:latin typeface="PingFang SC"/>
                <a:ea typeface="PingFang SC"/>
              </a:rPr>
              <a:t>简洁平面</a:t>
            </a:r>
          </a:p>
        </p:txBody>
      </p:sp>
      <p:pic>
        <p:nvPicPr>
          <p:cNvPr id="29" name="Picture 28" descr="strip_B_026f950b_30af07df9a0b_w12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2522438"/>
            <a:ext cx="3703320" cy="399999"/>
          </a:xfrm>
          <a:prstGeom prst="rect">
            <a:avLst/>
          </a:prstGeom>
        </p:spPr>
      </p:pic>
      <p:sp>
        <p:nvSpPr>
          <p:cNvPr id="30" name="Oval 29"/>
          <p:cNvSpPr/>
          <p:nvPr/>
        </p:nvSpPr>
        <p:spPr>
          <a:xfrm>
            <a:off x="6373368" y="3123467"/>
            <a:ext cx="256032" cy="256032"/>
          </a:xfrm>
          <a:prstGeom prst="ellipse">
            <a:avLst/>
          </a:prstGeom>
          <a:solidFill>
            <a:srgbClr val="D08A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408"/>
              </a:lnSpc>
              <a:spcAft>
                <a:spcPts val="0"/>
              </a:spcAft>
            </a:pPr>
            <a:r>
              <a:rPr lang="zh-CN" sz="1100" b="1">
                <a:solidFill>
                  <a:srgbClr val="FFFFFF"/>
                </a:solidFill>
                <a:latin typeface="PingFang SC"/>
                <a:ea typeface="PingFang SC"/>
              </a:rPr>
              <a:t>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02552" y="3114323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00"/>
              </a:lnSpc>
              <a:spcAft>
                <a:spcPts val="0"/>
              </a:spcAft>
            </a:pPr>
            <a:r>
              <a:rPr lang="zh-CN" sz="1250" b="0">
                <a:solidFill>
                  <a:srgbClr val="1E2B3A"/>
                </a:solidFill>
                <a:latin typeface="PingFang SC"/>
                <a:ea typeface="PingFang SC"/>
              </a:rPr>
              <a:t>分步插图</a:t>
            </a:r>
          </a:p>
        </p:txBody>
      </p:sp>
      <p:pic>
        <p:nvPicPr>
          <p:cNvPr id="32" name="Picture 31" descr="strip_C_026f950b_e19f0a00b8d5_w12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3051483"/>
            <a:ext cx="3703320" cy="39999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373368" y="3671969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00"/>
              </a:lnSpc>
              <a:spcAft>
                <a:spcPts val="0"/>
              </a:spcAft>
            </a:pPr>
            <a:r>
              <a:rPr lang="zh-CN" sz="1250" b="1">
                <a:solidFill>
                  <a:srgbClr val="B4700F"/>
                </a:solidFill>
                <a:latin typeface="PingFang SC"/>
                <a:ea typeface="PingFang SC"/>
              </a:rPr>
              <a:t>第 2 轮 · 再加 4 版</a:t>
            </a:r>
          </a:p>
        </p:txBody>
      </p:sp>
      <p:sp>
        <p:nvSpPr>
          <p:cNvPr id="34" name="Oval 33"/>
          <p:cNvSpPr/>
          <p:nvPr/>
        </p:nvSpPr>
        <p:spPr>
          <a:xfrm>
            <a:off x="6373368" y="4073136"/>
            <a:ext cx="256032" cy="256032"/>
          </a:xfrm>
          <a:prstGeom prst="ellipse">
            <a:avLst/>
          </a:prstGeom>
          <a:solidFill>
            <a:srgbClr val="D08A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408"/>
              </a:lnSpc>
              <a:spcAft>
                <a:spcPts val="0"/>
              </a:spcAft>
            </a:pPr>
            <a:r>
              <a:rPr lang="zh-CN" sz="1100" b="1">
                <a:solidFill>
                  <a:srgbClr val="FFFFFF"/>
                </a:solidFill>
                <a:latin typeface="PingFang SC"/>
                <a:ea typeface="PingFang SC"/>
              </a:rPr>
              <a:t>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02552" y="406399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00"/>
              </a:lnSpc>
              <a:spcAft>
                <a:spcPts val="0"/>
              </a:spcAft>
            </a:pPr>
            <a:r>
              <a:rPr lang="zh-CN" sz="1250" b="0">
                <a:solidFill>
                  <a:srgbClr val="1E2B3A"/>
                </a:solidFill>
                <a:latin typeface="PingFang SC"/>
                <a:ea typeface="PingFang SC"/>
              </a:rPr>
              <a:t>教科书阶梯</a:t>
            </a:r>
          </a:p>
        </p:txBody>
      </p:sp>
      <p:pic>
        <p:nvPicPr>
          <p:cNvPr id="36" name="Picture 35" descr="strip_D_026f950b_68d5b06335f4_w121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5240" y="4001153"/>
            <a:ext cx="3703320" cy="399999"/>
          </a:xfrm>
          <a:prstGeom prst="rect">
            <a:avLst/>
          </a:prstGeom>
        </p:spPr>
      </p:pic>
      <p:sp>
        <p:nvSpPr>
          <p:cNvPr id="37" name="Oval 36"/>
          <p:cNvSpPr/>
          <p:nvPr/>
        </p:nvSpPr>
        <p:spPr>
          <a:xfrm>
            <a:off x="6373368" y="4602182"/>
            <a:ext cx="256032" cy="256032"/>
          </a:xfrm>
          <a:prstGeom prst="ellipse">
            <a:avLst/>
          </a:prstGeom>
          <a:solidFill>
            <a:srgbClr val="D08A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408"/>
              </a:lnSpc>
              <a:spcAft>
                <a:spcPts val="0"/>
              </a:spcAft>
            </a:pPr>
            <a:r>
              <a:rPr lang="zh-CN" sz="1100" b="1">
                <a:solidFill>
                  <a:srgbClr val="FFFFFF"/>
                </a:solidFill>
                <a:latin typeface="PingFang SC"/>
                <a:ea typeface="PingFang SC"/>
              </a:rPr>
              <a:t>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02552" y="459303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00"/>
              </a:lnSpc>
              <a:spcAft>
                <a:spcPts val="0"/>
              </a:spcAft>
            </a:pPr>
            <a:r>
              <a:rPr lang="zh-CN" sz="1250" b="0">
                <a:solidFill>
                  <a:srgbClr val="1E2B3A"/>
                </a:solidFill>
                <a:latin typeface="PingFang SC"/>
                <a:ea typeface="PingFang SC"/>
              </a:rPr>
              <a:t>山脊线</a:t>
            </a:r>
          </a:p>
        </p:txBody>
      </p:sp>
      <p:pic>
        <p:nvPicPr>
          <p:cNvPr id="39" name="Picture 38" descr="strip_E_026f950b_47eb84835f1c_w121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5240" y="4530199"/>
            <a:ext cx="3703320" cy="399999"/>
          </a:xfrm>
          <a:prstGeom prst="rect">
            <a:avLst/>
          </a:prstGeom>
        </p:spPr>
      </p:pic>
      <p:sp>
        <p:nvSpPr>
          <p:cNvPr id="40" name="Oval 39"/>
          <p:cNvSpPr/>
          <p:nvPr/>
        </p:nvSpPr>
        <p:spPr>
          <a:xfrm>
            <a:off x="6373368" y="5131228"/>
            <a:ext cx="256032" cy="256032"/>
          </a:xfrm>
          <a:prstGeom prst="ellipse">
            <a:avLst/>
          </a:prstGeom>
          <a:solidFill>
            <a:srgbClr val="D08A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408"/>
              </a:lnSpc>
              <a:spcAft>
                <a:spcPts val="0"/>
              </a:spcAft>
            </a:pPr>
            <a:r>
              <a:rPr lang="zh-CN" sz="1100" b="1">
                <a:solidFill>
                  <a:srgbClr val="FFFFFF"/>
                </a:solidFill>
                <a:latin typeface="PingFang SC"/>
                <a:ea typeface="PingFang SC"/>
              </a:rPr>
              <a:t>F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02552" y="512208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00"/>
              </a:lnSpc>
              <a:spcAft>
                <a:spcPts val="0"/>
              </a:spcAft>
            </a:pPr>
            <a:r>
              <a:rPr lang="zh-CN" sz="1250" b="0">
                <a:solidFill>
                  <a:srgbClr val="1E2B3A"/>
                </a:solidFill>
                <a:latin typeface="PingFang SC"/>
                <a:ea typeface="PingFang SC"/>
              </a:rPr>
              <a:t>卡片传送带</a:t>
            </a:r>
          </a:p>
        </p:txBody>
      </p:sp>
      <p:pic>
        <p:nvPicPr>
          <p:cNvPr id="42" name="Picture 41" descr="strip_F_026f950b_f61e0da0e9ab_w121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5240" y="5059245"/>
            <a:ext cx="3703320" cy="399999"/>
          </a:xfrm>
          <a:prstGeom prst="rect">
            <a:avLst/>
          </a:prstGeom>
        </p:spPr>
      </p:pic>
      <p:sp>
        <p:nvSpPr>
          <p:cNvPr id="43" name="Oval 42"/>
          <p:cNvSpPr/>
          <p:nvPr/>
        </p:nvSpPr>
        <p:spPr>
          <a:xfrm>
            <a:off x="6373368" y="5660274"/>
            <a:ext cx="256032" cy="256032"/>
          </a:xfrm>
          <a:prstGeom prst="ellipse">
            <a:avLst/>
          </a:prstGeom>
          <a:solidFill>
            <a:srgbClr val="D08A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408"/>
              </a:lnSpc>
              <a:spcAft>
                <a:spcPts val="0"/>
              </a:spcAft>
            </a:pPr>
            <a:r>
              <a:rPr lang="zh-CN" sz="1100" b="1">
                <a:solidFill>
                  <a:srgbClr val="FFFFFF"/>
                </a:solidFill>
                <a:latin typeface="PingFang SC"/>
                <a:ea typeface="PingFang SC"/>
              </a:rPr>
              <a:t>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02552" y="565113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00"/>
              </a:lnSpc>
              <a:spcAft>
                <a:spcPts val="0"/>
              </a:spcAft>
            </a:pPr>
            <a:r>
              <a:rPr lang="zh-CN" sz="1250" b="0">
                <a:solidFill>
                  <a:srgbClr val="1E2B3A"/>
                </a:solidFill>
                <a:latin typeface="PingFang SC"/>
                <a:ea typeface="PingFang SC"/>
              </a:rPr>
              <a:t>极简线稿</a:t>
            </a:r>
          </a:p>
        </p:txBody>
      </p:sp>
      <p:pic>
        <p:nvPicPr>
          <p:cNvPr id="45" name="Picture 44" descr="strip_G_026f950b_95d0d7c4dec3_w121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35240" y="5588290"/>
            <a:ext cx="3703320" cy="399999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0588752" y="6446520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280"/>
              </a:lnSpc>
              <a:spcAft>
                <a:spcPts val="0"/>
              </a:spcAft>
            </a:pPr>
            <a:r>
              <a:rPr lang="zh-CN" sz="1000" b="0">
                <a:solidFill>
                  <a:srgbClr val="8592A0"/>
                </a:solidFill>
                <a:latin typeface="PingFang SC"/>
                <a:ea typeface="PingFang SC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1298448"/>
            <a:ext cx="411480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264"/>
              </a:lnSpc>
              <a:spcAft>
                <a:spcPts val="0"/>
              </a:spcAft>
            </a:pPr>
            <a:r>
              <a:rPr lang="zh-CN" sz="8800" b="1">
                <a:solidFill>
                  <a:srgbClr val="D08A1E"/>
                </a:solidFill>
                <a:latin typeface="PingFang SC"/>
                <a:ea typeface="PingFang SC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788920"/>
            <a:ext cx="461772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864"/>
              </a:lnSpc>
              <a:spcAft>
                <a:spcPts val="0"/>
              </a:spcAft>
            </a:pPr>
            <a:r>
              <a:rPr lang="zh-CN" sz="3800" b="1">
                <a:solidFill>
                  <a:srgbClr val="1E2B3A"/>
                </a:solidFill>
                <a:latin typeface="PingFang SC"/>
                <a:ea typeface="PingFang SC"/>
              </a:rPr>
              <a:t>选一种</a:t>
            </a:r>
          </a:p>
        </p:txBody>
      </p:sp>
      <p:sp>
        <p:nvSpPr>
          <p:cNvPr id="4" name="Rectangle 3"/>
          <p:cNvSpPr/>
          <p:nvPr/>
        </p:nvSpPr>
        <p:spPr>
          <a:xfrm>
            <a:off x="804672" y="3639312"/>
            <a:ext cx="548640" cy="45720"/>
          </a:xfrm>
          <a:prstGeom prst="rect">
            <a:avLst/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3886200"/>
            <a:ext cx="429768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76"/>
              </a:lnSpc>
              <a:spcAft>
                <a:spcPts val="0"/>
              </a:spcAft>
            </a:pPr>
            <a:r>
              <a:rPr lang="zh-CN" sz="1700" b="0">
                <a:solidFill>
                  <a:srgbClr val="45525F"/>
                </a:solidFill>
                <a:latin typeface="PingFang SC"/>
                <a:ea typeface="PingFang SC"/>
              </a:rPr>
              <a:t>选的时候问自己四个问题；</a:t>
            </a:r>
          </a:p>
          <a:p>
            <a:pPr algn="l">
              <a:lnSpc>
                <a:spcPts val="2176"/>
              </a:lnSpc>
              <a:spcAft>
                <a:spcPts val="0"/>
              </a:spcAft>
            </a:pPr>
            <a:r>
              <a:rPr lang="zh-CN" sz="1700" b="0">
                <a:solidFill>
                  <a:srgbClr val="45525F"/>
                </a:solidFill>
                <a:latin typeface="PingFang SC"/>
                <a:ea typeface="PingFang SC"/>
              </a:rPr>
              <a:t>说不清时让 AI 给选项，或者给一张参考图</a:t>
            </a:r>
          </a:p>
        </p:txBody>
      </p:sp>
      <p:pic>
        <p:nvPicPr>
          <p:cNvPr id="6" name="Picture 5" descr="fig1_opt_A_a8d250a1fb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4778" y="776427"/>
            <a:ext cx="2409444" cy="2561947"/>
          </a:xfrm>
          <a:prstGeom prst="rect">
            <a:avLst/>
          </a:prstGeom>
          <a:ln w="31750">
            <a:solidFill>
              <a:srgbClr val="D08A1E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pic>
        <p:nvPicPr>
          <p:cNvPr id="7" name="Picture 6" descr="fig1_opt_B_dim_bf76b9428e0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800100"/>
            <a:ext cx="2514600" cy="2514600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pic>
        <p:nvPicPr>
          <p:cNvPr id="8" name="Picture 7" descr="fig1_opt_C_dim_e04799cd938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2147" y="3519882"/>
            <a:ext cx="2454707" cy="2561436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pic>
        <p:nvPicPr>
          <p:cNvPr id="9" name="Picture 8" descr="fig1_opt_D_dim_77b2c836082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3978" y="3520159"/>
            <a:ext cx="2506005" cy="2560881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0" name="Rounded Rectangle 9"/>
          <p:cNvSpPr/>
          <p:nvPr/>
        </p:nvSpPr>
        <p:spPr>
          <a:xfrm>
            <a:off x="6355080" y="502107"/>
            <a:ext cx="868680" cy="347472"/>
          </a:xfrm>
          <a:prstGeom prst="roundRect">
            <a:avLst>
              <a:gd name="adj" fmla="val 50000"/>
            </a:avLst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570179"/>
            <a:ext cx="868680" cy="2296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664"/>
              </a:lnSpc>
              <a:spcAft>
                <a:spcPts val="0"/>
              </a:spcAft>
            </a:pPr>
            <a:r>
              <a:rPr lang="zh-CN" sz="1300" b="1">
                <a:solidFill>
                  <a:srgbClr val="FFFFFF"/>
                </a:solidFill>
                <a:latin typeface="PingFang SC"/>
                <a:ea typeface="PingFang SC"/>
              </a:rPr>
              <a:t>选中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29768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00"/>
              </a:lnSpc>
              <a:spcAft>
                <a:spcPts val="0"/>
              </a:spcAft>
            </a:pPr>
            <a:r>
              <a:rPr lang="zh-CN" sz="1250" b="1">
                <a:solidFill>
                  <a:srgbClr val="B4700F"/>
                </a:solidFill>
                <a:latin typeface="PingFang SC"/>
                <a:ea typeface="PingFang SC"/>
              </a:rPr>
              <a:t>第 2 步 · 选一种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94944"/>
            <a:ext cx="10817352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711"/>
              </a:lnSpc>
              <a:spcAft>
                <a:spcPts val="0"/>
              </a:spcAft>
            </a:pPr>
            <a:r>
              <a:rPr lang="zh-CN" sz="2900" b="1">
                <a:solidFill>
                  <a:srgbClr val="1E2B3A"/>
                </a:solidFill>
                <a:latin typeface="PingFang SC"/>
                <a:ea typeface="PingFang SC"/>
              </a:rPr>
              <a:t>选的时候，问自己四个问题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475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EBCB9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2047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6619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DDD8C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1191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DDD8C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85800" y="1600200"/>
            <a:ext cx="420624" cy="420624"/>
          </a:xfrm>
          <a:prstGeom prst="ellipse">
            <a:avLst/>
          </a:prstGeom>
          <a:solidFill>
            <a:srgbClr val="D08A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</a:pPr>
            <a:r>
              <a:rPr lang="zh-CN" sz="1500" b="1">
                <a:solidFill>
                  <a:srgbClr val="FFFFFF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7592" y="1660144"/>
            <a:ext cx="4864608" cy="3190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368"/>
              </a:lnSpc>
              <a:spcAft>
                <a:spcPts val="0"/>
              </a:spcAft>
            </a:pPr>
            <a:r>
              <a:rPr lang="zh-CN" sz="1850" b="1">
                <a:solidFill>
                  <a:srgbClr val="1E2B3A"/>
                </a:solidFill>
                <a:latin typeface="PingFang SC"/>
                <a:ea typeface="PingFang SC"/>
              </a:rPr>
              <a:t>一眼能看懂它要说的事吗？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07592" y="1997456"/>
            <a:ext cx="4864608" cy="4897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55"/>
              </a:lnSpc>
              <a:spcAft>
                <a:spcPts val="0"/>
              </a:spcAft>
            </a:pPr>
            <a:r>
              <a:rPr lang="zh-CN" sz="1450" b="0">
                <a:solidFill>
                  <a:srgbClr val="45525F"/>
                </a:solidFill>
                <a:latin typeface="PingFang SC"/>
                <a:ea typeface="PingFang SC"/>
              </a:rPr>
              <a:t>扫一眼就知道图的主角是什么、往哪个方向读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2679192"/>
            <a:ext cx="420624" cy="420624"/>
          </a:xfrm>
          <a:prstGeom prst="ellipse">
            <a:avLst/>
          </a:prstGeom>
          <a:solidFill>
            <a:srgbClr val="D08A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</a:pPr>
            <a:r>
              <a:rPr lang="zh-CN" sz="1500" b="1">
                <a:solidFill>
                  <a:srgbClr val="FFFFFF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7592" y="2739136"/>
            <a:ext cx="4864608" cy="3190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368"/>
              </a:lnSpc>
              <a:spcAft>
                <a:spcPts val="0"/>
              </a:spcAft>
            </a:pPr>
            <a:r>
              <a:rPr lang="zh-CN" sz="1850" b="1">
                <a:solidFill>
                  <a:srgbClr val="1E2B3A"/>
                </a:solidFill>
                <a:latin typeface="PingFang SC"/>
                <a:ea typeface="PingFang SC"/>
              </a:rPr>
              <a:t>和论文里的其他图分得开吗？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07592" y="3076448"/>
            <a:ext cx="4864608" cy="4897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55"/>
              </a:lnSpc>
              <a:spcAft>
                <a:spcPts val="0"/>
              </a:spcAft>
            </a:pPr>
            <a:r>
              <a:rPr lang="zh-CN" sz="1450" b="0">
                <a:solidFill>
                  <a:srgbClr val="45525F"/>
                </a:solidFill>
                <a:latin typeface="PingFang SC"/>
                <a:ea typeface="PingFang SC"/>
              </a:rPr>
              <a:t>Fig. 2 的四版都避开了方法框架图用过的元素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3758184"/>
            <a:ext cx="420624" cy="420624"/>
          </a:xfrm>
          <a:prstGeom prst="ellipse">
            <a:avLst/>
          </a:prstGeom>
          <a:solidFill>
            <a:srgbClr val="D08A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</a:pPr>
            <a:r>
              <a:rPr lang="zh-CN" sz="1500" b="1">
                <a:solidFill>
                  <a:srgbClr val="FFFFFF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07592" y="3818128"/>
            <a:ext cx="4864608" cy="3190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368"/>
              </a:lnSpc>
              <a:spcAft>
                <a:spcPts val="0"/>
              </a:spcAft>
            </a:pPr>
            <a:r>
              <a:rPr lang="zh-CN" sz="1850" b="1">
                <a:solidFill>
                  <a:srgbClr val="1E2B3A"/>
                </a:solidFill>
                <a:latin typeface="PingFang SC"/>
                <a:ea typeface="PingFang SC"/>
              </a:rPr>
              <a:t>像不像“AI 图”？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7592" y="4155440"/>
            <a:ext cx="4864608" cy="4897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55"/>
              </a:lnSpc>
              <a:spcAft>
                <a:spcPts val="0"/>
              </a:spcAft>
            </a:pPr>
            <a:r>
              <a:rPr lang="zh-CN" sz="1450" b="0">
                <a:solidFill>
                  <a:srgbClr val="45525F"/>
                </a:solidFill>
                <a:latin typeface="PingFang SC"/>
                <a:ea typeface="PingFang SC"/>
              </a:rPr>
              <a:t>卡通图标、花哨的渐变和光效，一看就是 AI 画的</a:t>
            </a:r>
          </a:p>
        </p:txBody>
      </p:sp>
      <p:sp>
        <p:nvSpPr>
          <p:cNvPr id="17" name="Oval 16"/>
          <p:cNvSpPr/>
          <p:nvPr/>
        </p:nvSpPr>
        <p:spPr>
          <a:xfrm>
            <a:off x="685800" y="4837176"/>
            <a:ext cx="420624" cy="420624"/>
          </a:xfrm>
          <a:prstGeom prst="ellipse">
            <a:avLst/>
          </a:prstGeom>
          <a:solidFill>
            <a:srgbClr val="D08A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</a:pPr>
            <a:r>
              <a:rPr lang="zh-CN" sz="1500" b="1">
                <a:solidFill>
                  <a:srgbClr val="FFFFFF"/>
                </a:solidFill>
                <a:latin typeface="PingFang SC"/>
                <a:ea typeface="PingFang SC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07592" y="4897120"/>
            <a:ext cx="4864608" cy="3190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368"/>
              </a:lnSpc>
              <a:spcAft>
                <a:spcPts val="0"/>
              </a:spcAft>
            </a:pPr>
            <a:r>
              <a:rPr lang="zh-CN" sz="1850" b="1">
                <a:solidFill>
                  <a:srgbClr val="1E2B3A"/>
                </a:solidFill>
                <a:latin typeface="PingFang SC"/>
                <a:ea typeface="PingFang SC"/>
              </a:rPr>
              <a:t>缩到论文尺寸，还看得清吗？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07592" y="5234432"/>
            <a:ext cx="4864608" cy="4897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55"/>
              </a:lnSpc>
              <a:spcAft>
                <a:spcPts val="0"/>
              </a:spcAft>
            </a:pPr>
            <a:r>
              <a:rPr lang="zh-CN" sz="1450" b="0">
                <a:solidFill>
                  <a:srgbClr val="45525F"/>
                </a:solidFill>
                <a:latin typeface="PingFang SC"/>
                <a:ea typeface="PingFang SC"/>
              </a:rPr>
              <a:t>按最终尺寸看，字不小于 7 pt</a:t>
            </a:r>
          </a:p>
        </p:txBody>
      </p:sp>
      <p:pic>
        <p:nvPicPr>
          <p:cNvPr id="20" name="Picture 19" descr="proc_three_parts_a018655451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049" y="694944"/>
            <a:ext cx="6487171" cy="5261454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21" name="TextBox 20"/>
          <p:cNvSpPr txBox="1"/>
          <p:nvPr/>
        </p:nvSpPr>
        <p:spPr>
          <a:xfrm>
            <a:off x="6446520" y="6081250"/>
            <a:ext cx="505663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664"/>
              </a:lnSpc>
              <a:spcAft>
                <a:spcPts val="0"/>
              </a:spcAft>
            </a:pPr>
            <a:r>
              <a:rPr lang="zh-CN" sz="1300" b="0" dirty="0">
                <a:solidFill>
                  <a:srgbClr val="8592A0"/>
                </a:solidFill>
                <a:latin typeface="PingFang SC"/>
                <a:ea typeface="PingFang SC"/>
              </a:rPr>
              <a:t>左：卡通图标，像 AI 画的　右：和全图一致的抽象画法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88752" y="6446520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280"/>
              </a:lnSpc>
              <a:spcAft>
                <a:spcPts val="0"/>
              </a:spcAft>
            </a:pPr>
            <a:r>
              <a:rPr lang="zh-CN" sz="1000" b="0">
                <a:solidFill>
                  <a:srgbClr val="8592A0"/>
                </a:solidFill>
                <a:latin typeface="PingFang SC"/>
                <a:ea typeface="PingFang SC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29768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00"/>
              </a:lnSpc>
              <a:spcAft>
                <a:spcPts val="0"/>
              </a:spcAft>
            </a:pPr>
            <a:r>
              <a:rPr lang="zh-CN" sz="1250" b="1">
                <a:solidFill>
                  <a:srgbClr val="B4700F"/>
                </a:solidFill>
                <a:latin typeface="PingFang SC"/>
                <a:ea typeface="PingFang SC"/>
              </a:rPr>
              <a:t>第 2 步 · 选一种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94944"/>
            <a:ext cx="10817352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711"/>
              </a:lnSpc>
              <a:spcAft>
                <a:spcPts val="0"/>
              </a:spcAft>
            </a:pPr>
            <a:r>
              <a:rPr lang="zh-CN" sz="2900" b="1">
                <a:solidFill>
                  <a:srgbClr val="1E2B3A"/>
                </a:solidFill>
                <a:latin typeface="PingFang SC"/>
                <a:ea typeface="PingFang SC"/>
              </a:rPr>
              <a:t>说不清喜欢哪种？让 AI 给选项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43584"/>
            <a:ext cx="10817352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84"/>
              </a:lnSpc>
              <a:spcAft>
                <a:spcPts val="0"/>
              </a:spcAft>
            </a:pPr>
            <a:r>
              <a:rPr lang="zh-CN" sz="1550" b="0">
                <a:solidFill>
                  <a:srgbClr val="45525F"/>
                </a:solidFill>
                <a:latin typeface="PingFang SC"/>
                <a:ea typeface="PingFang SC"/>
              </a:rPr>
              <a:t>Fig. 3 底部：连说三次“不好看”以后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475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EBCB9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2047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6619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DDD8C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1191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DDD8C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22371" y="1719072"/>
            <a:ext cx="2252749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408"/>
              </a:lnSpc>
              <a:spcAft>
                <a:spcPts val="0"/>
              </a:spcAft>
            </a:pPr>
            <a:r>
              <a:rPr lang="zh-CN" sz="1100" b="0">
                <a:solidFill>
                  <a:srgbClr val="8592A0"/>
                </a:solidFill>
                <a:latin typeface="PingFang SC"/>
                <a:ea typeface="PingFang SC"/>
              </a:rPr>
              <a:t>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2371" y="1956816"/>
            <a:ext cx="2252749" cy="457200"/>
          </a:xfrm>
          <a:prstGeom prst="roundRect">
            <a:avLst>
              <a:gd name="adj" fmla="val 32000"/>
            </a:avLst>
          </a:prstGeom>
          <a:solidFill>
            <a:srgbClr val="FBEFD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22371" y="1956816"/>
            <a:ext cx="2252749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1984"/>
              </a:lnSpc>
              <a:spcAft>
                <a:spcPts val="0"/>
              </a:spcAft>
            </a:pPr>
            <a:r>
              <a:rPr lang="zh-CN" sz="1550" b="0">
                <a:solidFill>
                  <a:srgbClr val="1E2B3A"/>
                </a:solidFill>
                <a:latin typeface="PingFang SC"/>
                <a:ea typeface="PingFang SC"/>
              </a:rPr>
              <a:t>感觉都是平平无奇啊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2615184"/>
            <a:ext cx="402336" cy="402336"/>
          </a:xfrm>
          <a:prstGeom prst="ellipse">
            <a:avLst/>
          </a:prstGeom>
          <a:solidFill>
            <a:srgbClr val="16212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536"/>
              </a:lnSpc>
              <a:spcAft>
                <a:spcPts val="0"/>
              </a:spcAft>
            </a:pPr>
            <a:r>
              <a:rPr lang="zh-CN" sz="1200" b="1">
                <a:solidFill>
                  <a:srgbClr val="FFFFFF"/>
                </a:solidFill>
                <a:latin typeface="PingFang SC"/>
                <a:ea typeface="PingFang SC"/>
              </a:rPr>
              <a:t>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34440" y="2615184"/>
            <a:ext cx="5440680" cy="2212848"/>
          </a:xfrm>
          <a:prstGeom prst="roundRect">
            <a:avLst>
              <a:gd name="adj" fmla="val 4958"/>
            </a:avLst>
          </a:prstGeom>
          <a:solidFill>
            <a:srgbClr val="FFFFFF"/>
          </a:solidFill>
          <a:ln w="6350">
            <a:solidFill>
              <a:srgbClr val="E2DED7"/>
            </a:solidFill>
          </a:ln>
          <a:effectLst>
            <a:outerShdw blurRad="100584" dist="27432" dir="5400000" algn="t" rotWithShape="0">
              <a:srgbClr val="1C2B3A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463040" y="2770632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08"/>
              </a:lnSpc>
              <a:spcAft>
                <a:spcPts val="0"/>
              </a:spcAft>
            </a:pPr>
            <a:r>
              <a:rPr lang="zh-CN" sz="1100" b="1">
                <a:solidFill>
                  <a:srgbClr val="B4700F"/>
                </a:solidFill>
                <a:latin typeface="PingFang SC"/>
                <a:ea typeface="PingFang SC"/>
              </a:rPr>
              <a:t>AI 提问，请你点选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035808"/>
            <a:ext cx="4983480" cy="5059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</a:pPr>
            <a:r>
              <a:rPr lang="zh-CN" sz="1500" b="1">
                <a:solidFill>
                  <a:srgbClr val="1E2B3A"/>
                </a:solidFill>
                <a:latin typeface="PingFang SC"/>
                <a:ea typeface="PingFang SC"/>
              </a:rPr>
              <a:t>我想先弄清楚你想要的“不平凡”是哪种感觉，</a:t>
            </a:r>
          </a:p>
          <a:p>
            <a:pPr algn="l">
              <a:lnSpc>
                <a:spcPts val="1920"/>
              </a:lnSpc>
              <a:spcAft>
                <a:spcPts val="0"/>
              </a:spcAft>
            </a:pPr>
            <a:r>
              <a:rPr lang="zh-CN" sz="1500" b="1">
                <a:solidFill>
                  <a:srgbClr val="1E2B3A"/>
                </a:solidFill>
                <a:latin typeface="PingFang SC"/>
                <a:ea typeface="PingFang SC"/>
              </a:rPr>
              <a:t>再集中做一版。哪个最接近？</a:t>
            </a:r>
          </a:p>
        </p:txBody>
      </p:sp>
      <p:sp>
        <p:nvSpPr>
          <p:cNvPr id="16" name="Oval 15"/>
          <p:cNvSpPr/>
          <p:nvPr/>
        </p:nvSpPr>
        <p:spPr>
          <a:xfrm>
            <a:off x="1508760" y="3781044"/>
            <a:ext cx="128016" cy="128016"/>
          </a:xfrm>
          <a:prstGeom prst="ellipse">
            <a:avLst/>
          </a:prstGeom>
          <a:solidFill>
            <a:srgbClr val="CDD2D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746504" y="3712464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55"/>
              </a:lnSpc>
              <a:spcAft>
                <a:spcPts val="0"/>
              </a:spcAft>
            </a:pPr>
            <a:r>
              <a:rPr lang="zh-CN" sz="1450" b="0">
                <a:solidFill>
                  <a:srgbClr val="45525F"/>
                </a:solidFill>
                <a:latin typeface="PingFang SC"/>
                <a:ea typeface="PingFang SC"/>
              </a:rPr>
              <a:t>像上面三块一样丰富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89888" y="4023360"/>
            <a:ext cx="5129784" cy="347472"/>
          </a:xfrm>
          <a:prstGeom prst="roundRect">
            <a:avLst>
              <a:gd name="adj" fmla="val 26315"/>
            </a:avLst>
          </a:prstGeom>
          <a:solidFill>
            <a:srgbClr val="FBEFD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46320" y="4069080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536"/>
              </a:lnSpc>
              <a:spcAft>
                <a:spcPts val="0"/>
              </a:spcAft>
            </a:pPr>
            <a:r>
              <a:rPr lang="zh-CN" sz="1200" b="1">
                <a:solidFill>
                  <a:srgbClr val="B4700F"/>
                </a:solidFill>
                <a:latin typeface="PingFang SC"/>
                <a:ea typeface="PingFang SC"/>
              </a:rPr>
              <a:t>← 我点了这个</a:t>
            </a:r>
          </a:p>
        </p:txBody>
      </p:sp>
      <p:sp>
        <p:nvSpPr>
          <p:cNvPr id="20" name="Oval 19"/>
          <p:cNvSpPr/>
          <p:nvPr/>
        </p:nvSpPr>
        <p:spPr>
          <a:xfrm>
            <a:off x="1508760" y="4137660"/>
            <a:ext cx="128016" cy="128016"/>
          </a:xfrm>
          <a:prstGeom prst="ellipse">
            <a:avLst/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746504" y="4069080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55"/>
              </a:lnSpc>
              <a:spcAft>
                <a:spcPts val="0"/>
              </a:spcAft>
            </a:pPr>
            <a:r>
              <a:rPr lang="zh-CN" sz="1450" b="1">
                <a:solidFill>
                  <a:srgbClr val="1E2B3A"/>
                </a:solidFill>
                <a:latin typeface="PingFang SC"/>
                <a:ea typeface="PingFang SC"/>
              </a:rPr>
              <a:t>一个大的立体数学图</a:t>
            </a:r>
          </a:p>
        </p:txBody>
      </p:sp>
      <p:sp>
        <p:nvSpPr>
          <p:cNvPr id="22" name="Oval 21"/>
          <p:cNvSpPr/>
          <p:nvPr/>
        </p:nvSpPr>
        <p:spPr>
          <a:xfrm>
            <a:off x="1508760" y="4494276"/>
            <a:ext cx="128016" cy="128016"/>
          </a:xfrm>
          <a:prstGeom prst="ellipse">
            <a:avLst/>
          </a:prstGeom>
          <a:solidFill>
            <a:srgbClr val="CDD2D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746504" y="4425696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55"/>
              </a:lnSpc>
              <a:spcAft>
                <a:spcPts val="0"/>
              </a:spcAft>
            </a:pPr>
            <a:r>
              <a:rPr lang="zh-CN" sz="1450" b="0">
                <a:solidFill>
                  <a:srgbClr val="45525F"/>
                </a:solidFill>
                <a:latin typeface="PingFang SC"/>
                <a:ea typeface="PingFang SC"/>
              </a:rPr>
              <a:t>我有参考图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2286000"/>
            <a:ext cx="4325112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944"/>
              </a:lnSpc>
              <a:spcAft>
                <a:spcPts val="0"/>
              </a:spcAft>
            </a:pPr>
            <a:r>
              <a:rPr lang="zh-CN" sz="2300" b="1">
                <a:solidFill>
                  <a:srgbClr val="1E2B3A"/>
                </a:solidFill>
                <a:latin typeface="PingFang SC"/>
                <a:ea typeface="PingFang SC"/>
              </a:rPr>
              <a:t>不会描述想要的感觉？</a:t>
            </a:r>
          </a:p>
          <a:p>
            <a:pPr algn="l">
              <a:lnSpc>
                <a:spcPts val="2944"/>
              </a:lnSpc>
              <a:spcAft>
                <a:spcPts val="0"/>
              </a:spcAft>
            </a:pPr>
            <a:r>
              <a:rPr lang="zh-CN" sz="2300" b="1">
                <a:solidFill>
                  <a:srgbClr val="1E2B3A"/>
                </a:solidFill>
                <a:latin typeface="PingFang SC"/>
                <a:ea typeface="PingFang SC"/>
              </a:rPr>
              <a:t>就让 AI 出选择题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3364992"/>
            <a:ext cx="420624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</a:pPr>
            <a:r>
              <a:rPr lang="zh-CN" sz="1500" b="0">
                <a:solidFill>
                  <a:srgbClr val="45525F"/>
                </a:solidFill>
                <a:latin typeface="PingFang SC"/>
                <a:ea typeface="PingFang SC"/>
              </a:rPr>
              <a:t>你只要点一下，AI 拿到方向再集中做一版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4526280"/>
            <a:ext cx="432511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64"/>
              </a:lnSpc>
              <a:spcAft>
                <a:spcPts val="0"/>
              </a:spcAft>
            </a:pPr>
            <a:r>
              <a:rPr lang="zh-CN" sz="1300" b="1">
                <a:solidFill>
                  <a:srgbClr val="B4700F"/>
                </a:solidFill>
                <a:latin typeface="PingFang SC"/>
                <a:ea typeface="PingFang SC"/>
              </a:rPr>
              <a:t>↓  按这个方向做出来的 Fig. 3 底部</a:t>
            </a:r>
          </a:p>
        </p:txBody>
      </p:sp>
      <p:pic>
        <p:nvPicPr>
          <p:cNvPr id="27" name="Picture 26" descr="fig3_band_d8df9d4e_df19f9421a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091991"/>
            <a:ext cx="10817352" cy="1136289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28" name="TextBox 27"/>
          <p:cNvSpPr txBox="1"/>
          <p:nvPr/>
        </p:nvSpPr>
        <p:spPr>
          <a:xfrm>
            <a:off x="10588752" y="6446520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280"/>
              </a:lnSpc>
              <a:spcAft>
                <a:spcPts val="0"/>
              </a:spcAft>
            </a:pPr>
            <a:r>
              <a:rPr lang="zh-CN" sz="1000" b="0">
                <a:solidFill>
                  <a:srgbClr val="8592A0"/>
                </a:solidFill>
                <a:latin typeface="PingFang SC"/>
                <a:ea typeface="PingFang SC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29768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00"/>
              </a:lnSpc>
              <a:spcAft>
                <a:spcPts val="0"/>
              </a:spcAft>
            </a:pPr>
            <a:r>
              <a:rPr lang="zh-CN" sz="1250" b="1">
                <a:solidFill>
                  <a:srgbClr val="B4700F"/>
                </a:solidFill>
                <a:latin typeface="PingFang SC"/>
                <a:ea typeface="PingFang SC"/>
              </a:rPr>
              <a:t>第 2 步 · 选一种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94944"/>
            <a:ext cx="10817352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711"/>
              </a:lnSpc>
              <a:spcAft>
                <a:spcPts val="0"/>
              </a:spcAft>
            </a:pPr>
            <a:r>
              <a:rPr lang="zh-CN" sz="2900" b="1">
                <a:solidFill>
                  <a:srgbClr val="1E2B3A"/>
                </a:solidFill>
                <a:latin typeface="PingFang SC"/>
                <a:ea typeface="PingFang SC"/>
              </a:rPr>
              <a:t>也可以直接给一张参考图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43584"/>
            <a:ext cx="10817352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84"/>
              </a:lnSpc>
              <a:spcAft>
                <a:spcPts val="0"/>
              </a:spcAft>
            </a:pPr>
            <a:r>
              <a:rPr lang="zh-CN" sz="1550" b="0">
                <a:solidFill>
                  <a:srgbClr val="45525F"/>
                </a:solidFill>
                <a:latin typeface="PingFang SC"/>
                <a:ea typeface="PingFang SC"/>
              </a:rPr>
              <a:t>Fig. 1：“感觉还是不太美观，你可以参考一下 apple 的这种液态玻璃的效果”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475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EBCB9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2047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6619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DDD8C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1191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DDD8C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glass_ref_798b7a1c57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541" y="2103120"/>
            <a:ext cx="3063240" cy="3063240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0" name="TextBox 9"/>
          <p:cNvSpPr txBox="1"/>
          <p:nvPr/>
        </p:nvSpPr>
        <p:spPr>
          <a:xfrm>
            <a:off x="749541" y="5330952"/>
            <a:ext cx="30632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</a:pPr>
            <a:r>
              <a:rPr lang="zh-CN" sz="1500" b="0">
                <a:solidFill>
                  <a:srgbClr val="45525F"/>
                </a:solidFill>
                <a:latin typeface="PingFang SC"/>
                <a:ea typeface="PingFang SC"/>
              </a:rPr>
              <a:t>参考图</a:t>
            </a:r>
          </a:p>
        </p:txBody>
      </p:sp>
      <p:sp>
        <p:nvSpPr>
          <p:cNvPr id="11" name="Chevron 10"/>
          <p:cNvSpPr/>
          <p:nvPr/>
        </p:nvSpPr>
        <p:spPr>
          <a:xfrm>
            <a:off x="3995661" y="3470148"/>
            <a:ext cx="182880" cy="329184"/>
          </a:xfrm>
          <a:prstGeom prst="chevron">
            <a:avLst/>
          </a:prstGeom>
          <a:solidFill>
            <a:srgbClr val="CFC8B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glass_zoom_before_1d1aaee63e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1421" y="2103120"/>
            <a:ext cx="3426922" cy="3063240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3" name="TextBox 12"/>
          <p:cNvSpPr txBox="1"/>
          <p:nvPr/>
        </p:nvSpPr>
        <p:spPr>
          <a:xfrm>
            <a:off x="4361421" y="5330952"/>
            <a:ext cx="3426922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</a:pPr>
            <a:r>
              <a:rPr lang="zh-CN" sz="1500" b="0">
                <a:solidFill>
                  <a:srgbClr val="45525F"/>
                </a:solidFill>
                <a:latin typeface="PingFang SC"/>
                <a:ea typeface="PingFang SC"/>
              </a:rPr>
              <a:t>参考之前：只是半透明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1421" y="5678424"/>
            <a:ext cx="342692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664"/>
              </a:lnSpc>
              <a:spcAft>
                <a:spcPts val="0"/>
              </a:spcAft>
            </a:pPr>
            <a:r>
              <a:rPr lang="zh-CN" sz="1300" b="0">
                <a:solidFill>
                  <a:srgbClr val="8592A0"/>
                </a:solidFill>
                <a:latin typeface="PingFang SC"/>
                <a:ea typeface="PingFang SC"/>
              </a:rPr>
              <a:t>后面的线条清清楚楚，没有玻璃感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61421" y="164592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FBEFD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61421" y="1699768"/>
            <a:ext cx="1600200" cy="221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600"/>
              </a:lnSpc>
              <a:spcAft>
                <a:spcPts val="0"/>
              </a:spcAft>
            </a:pPr>
            <a:r>
              <a:rPr lang="zh-CN" sz="1250" b="1">
                <a:solidFill>
                  <a:srgbClr val="B4700F"/>
                </a:solidFill>
                <a:latin typeface="PingFang SC"/>
                <a:ea typeface="PingFang SC"/>
              </a:rPr>
              <a:t>Fig. 1 局部放大</a:t>
            </a:r>
          </a:p>
        </p:txBody>
      </p:sp>
      <p:pic>
        <p:nvPicPr>
          <p:cNvPr id="17" name="Picture 16" descr="glass_zoom_after_fa78c71a0c3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6943" y="2103314"/>
            <a:ext cx="3422469" cy="3062853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8" name="TextBox 17"/>
          <p:cNvSpPr txBox="1"/>
          <p:nvPr/>
        </p:nvSpPr>
        <p:spPr>
          <a:xfrm>
            <a:off x="8016943" y="5330952"/>
            <a:ext cx="3422469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</a:pPr>
            <a:r>
              <a:rPr lang="zh-CN" sz="1500" b="1">
                <a:solidFill>
                  <a:srgbClr val="1E2B3A"/>
                </a:solidFill>
                <a:latin typeface="PingFang SC"/>
                <a:ea typeface="PingFang SC"/>
              </a:rPr>
              <a:t>参考之后：磨砂、亮边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16943" y="5678424"/>
            <a:ext cx="342246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664"/>
              </a:lnSpc>
              <a:spcAft>
                <a:spcPts val="0"/>
              </a:spcAft>
            </a:pPr>
            <a:r>
              <a:rPr lang="zh-CN" sz="1300" b="0">
                <a:solidFill>
                  <a:srgbClr val="8592A0"/>
                </a:solidFill>
                <a:latin typeface="PingFang SC"/>
                <a:ea typeface="PingFang SC"/>
              </a:rPr>
              <a:t>后面的路径隔着玻璃变模糊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88752" y="6446520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280"/>
              </a:lnSpc>
              <a:spcAft>
                <a:spcPts val="0"/>
              </a:spcAft>
            </a:pPr>
            <a:r>
              <a:rPr lang="zh-CN" sz="1000" b="0">
                <a:solidFill>
                  <a:srgbClr val="8592A0"/>
                </a:solidFill>
                <a:latin typeface="PingFang SC"/>
                <a:ea typeface="PingFang SC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1298448"/>
            <a:ext cx="411480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264"/>
              </a:lnSpc>
              <a:spcAft>
                <a:spcPts val="0"/>
              </a:spcAft>
            </a:pPr>
            <a:r>
              <a:rPr lang="zh-CN" sz="8800" b="1">
                <a:solidFill>
                  <a:srgbClr val="D08A1E"/>
                </a:solidFill>
                <a:latin typeface="PingFang SC"/>
                <a:ea typeface="PingFang SC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788920"/>
            <a:ext cx="461772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864"/>
              </a:lnSpc>
              <a:spcAft>
                <a:spcPts val="0"/>
              </a:spcAft>
            </a:pPr>
            <a:r>
              <a:rPr lang="zh-CN" sz="3800" b="1">
                <a:solidFill>
                  <a:srgbClr val="1E2B3A"/>
                </a:solidFill>
                <a:latin typeface="PingFang SC"/>
                <a:ea typeface="PingFang SC"/>
              </a:rPr>
              <a:t>用 Python 画组件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804672" y="3639312"/>
            <a:ext cx="548640" cy="45720"/>
          </a:xfrm>
          <a:prstGeom prst="rect">
            <a:avLst/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3886200"/>
            <a:ext cx="429768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76"/>
              </a:lnSpc>
              <a:spcAft>
                <a:spcPts val="0"/>
              </a:spcAft>
            </a:pPr>
            <a:r>
              <a:rPr lang="zh-CN" sz="1700" b="0">
                <a:solidFill>
                  <a:srgbClr val="45525F"/>
                </a:solidFill>
                <a:latin typeface="PingFang SC"/>
                <a:ea typeface="PingFang SC"/>
              </a:rPr>
              <a:t>把选中的那版拆成小组件，</a:t>
            </a:r>
          </a:p>
          <a:p>
            <a:pPr algn="l">
              <a:lnSpc>
                <a:spcPts val="2176"/>
              </a:lnSpc>
              <a:spcAft>
                <a:spcPts val="0"/>
              </a:spcAft>
            </a:pPr>
            <a:r>
              <a:rPr lang="zh-CN" sz="1700" b="0">
                <a:solidFill>
                  <a:srgbClr val="45525F"/>
                </a:solidFill>
                <a:latin typeface="PingFang SC"/>
                <a:ea typeface="PingFang SC"/>
              </a:rPr>
              <a:t>一个组件一段代码</a:t>
            </a:r>
          </a:p>
        </p:txBody>
      </p:sp>
      <p:pic>
        <p:nvPicPr>
          <p:cNvPr id="6" name="Picture 5" descr="part_fig3_01_adder_signal_1_17e1643291_c0d911dc9b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420000">
            <a:off x="5669280" y="685515"/>
            <a:ext cx="2651760" cy="1194816"/>
          </a:xfrm>
          <a:prstGeom prst="rect">
            <a:avLst/>
          </a:prstGeom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pic>
        <p:nvPicPr>
          <p:cNvPr id="7" name="Picture 6" descr="part_fig3_10_surrogate_search_1_5995d217ad_4a2c4bcc059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50000">
            <a:off x="8503920" y="548414"/>
            <a:ext cx="3063240" cy="1325880"/>
          </a:xfrm>
          <a:prstGeom prst="rect">
            <a:avLst/>
          </a:prstGeom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pic>
        <p:nvPicPr>
          <p:cNvPr id="8" name="Picture 7" descr="part_fig3_12_ranked_signals_1_f07eb97627_4d804d2d4c3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20000">
            <a:off x="5806440" y="2102511"/>
            <a:ext cx="2240280" cy="1417320"/>
          </a:xfrm>
          <a:prstGeom prst="rect">
            <a:avLst/>
          </a:prstGeom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pic>
        <p:nvPicPr>
          <p:cNvPr id="9" name="Picture 8" descr="part_fig3_04_learned_surface_ev_3_c0c604d665_127b8acef6a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480000">
            <a:off x="8229600" y="2149102"/>
            <a:ext cx="1691640" cy="1581912"/>
          </a:xfrm>
          <a:prstGeom prst="rect">
            <a:avLst/>
          </a:prstGeom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pic>
        <p:nvPicPr>
          <p:cNvPr id="10" name="Picture 9" descr="part_fig3_08_every_sampled_draw_1_7a7b942b84_3a0b415defd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80000">
            <a:off x="10058400" y="2103745"/>
            <a:ext cx="1554480" cy="1645920"/>
          </a:xfrm>
          <a:prstGeom prst="rect">
            <a:avLst/>
          </a:prstGeom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pic>
        <p:nvPicPr>
          <p:cNvPr id="11" name="Picture 10" descr="part_fig3_03_response_archive_1_850875151f_0ad4daa7204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510000">
            <a:off x="5669280" y="4023157"/>
            <a:ext cx="2834640" cy="984504"/>
          </a:xfrm>
          <a:prstGeom prst="rect">
            <a:avLst/>
          </a:prstGeom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pic>
        <p:nvPicPr>
          <p:cNvPr id="12" name="Picture 11" descr="part_fig3_07_feeder_1_48c0a6bccc_13236068b36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20000">
            <a:off x="8686800" y="3886200"/>
            <a:ext cx="2697480" cy="1373154"/>
          </a:xfrm>
          <a:prstGeom prst="rect">
            <a:avLst/>
          </a:prstGeom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pic>
        <p:nvPicPr>
          <p:cNvPr id="13" name="Picture 12" descr="part_fig3_13_hourly_operation_1_f4b42ce229_f37126d8d2d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540000">
            <a:off x="5760720" y="5440698"/>
            <a:ext cx="5806440" cy="649224"/>
          </a:xfrm>
          <a:prstGeom prst="rect">
            <a:avLst/>
          </a:prstGeom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29768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00"/>
              </a:lnSpc>
              <a:spcAft>
                <a:spcPts val="0"/>
              </a:spcAft>
            </a:pPr>
            <a:r>
              <a:rPr lang="zh-CN" sz="1250" b="1">
                <a:solidFill>
                  <a:srgbClr val="B4700F"/>
                </a:solidFill>
                <a:latin typeface="PingFang SC"/>
                <a:ea typeface="PingFang SC"/>
              </a:rPr>
              <a:t>第 3 步 · 用 Python 画组件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94944"/>
            <a:ext cx="10817352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711"/>
              </a:lnSpc>
              <a:spcAft>
                <a:spcPts val="0"/>
              </a:spcAft>
            </a:pPr>
            <a:r>
              <a:rPr lang="zh-CN" sz="2900" b="1">
                <a:solidFill>
                  <a:srgbClr val="1E2B3A"/>
                </a:solidFill>
                <a:latin typeface="PingFang SC"/>
                <a:ea typeface="PingFang SC"/>
              </a:rPr>
              <a:t>先拆：Fig. 3 拆成 13 个组件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475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EBCB9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2047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EBCB9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6619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1191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DDD8C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fig3_parts_1530888ff87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93609"/>
            <a:ext cx="7635240" cy="4712030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9" name="Oval 8"/>
          <p:cNvSpPr/>
          <p:nvPr/>
        </p:nvSpPr>
        <p:spPr>
          <a:xfrm>
            <a:off x="8549640" y="1706880"/>
            <a:ext cx="146304" cy="146304"/>
          </a:xfrm>
          <a:prstGeom prst="ellipse">
            <a:avLst/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42248" y="1645920"/>
            <a:ext cx="2660904" cy="2865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12"/>
              </a:lnSpc>
              <a:spcAft>
                <a:spcPts val="0"/>
              </a:spcAft>
            </a:pPr>
            <a:r>
              <a:rPr lang="zh-CN" sz="1650" b="1">
                <a:solidFill>
                  <a:srgbClr val="1E2B3A"/>
                </a:solidFill>
                <a:latin typeface="PingFang SC"/>
                <a:ea typeface="PingFang SC"/>
              </a:rPr>
              <a:t>一个组件，一张小图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42248" y="1969008"/>
            <a:ext cx="2660904" cy="701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92"/>
              </a:lnSpc>
              <a:spcAft>
                <a:spcPts val="0"/>
              </a:spcAft>
            </a:pPr>
            <a:r>
              <a:rPr lang="zh-CN" sz="1400" b="0">
                <a:solidFill>
                  <a:srgbClr val="45525F"/>
                </a:solidFill>
                <a:latin typeface="PingFang SC"/>
                <a:ea typeface="PingFang SC"/>
              </a:rPr>
              <a:t>用 matplotlib 画；</a:t>
            </a:r>
          </a:p>
          <a:p>
            <a:pPr algn="l">
              <a:lnSpc>
                <a:spcPts val="1792"/>
              </a:lnSpc>
              <a:spcAft>
                <a:spcPts val="0"/>
              </a:spcAft>
            </a:pPr>
            <a:r>
              <a:rPr lang="zh-CN" sz="1400" b="0">
                <a:solidFill>
                  <a:srgbClr val="45525F"/>
                </a:solidFill>
                <a:latin typeface="PingFang SC"/>
                <a:ea typeface="PingFang SC"/>
              </a:rPr>
              <a:t>13 个组件，13 段代码</a:t>
            </a:r>
          </a:p>
        </p:txBody>
      </p:sp>
      <p:sp>
        <p:nvSpPr>
          <p:cNvPr id="12" name="Oval 11"/>
          <p:cNvSpPr/>
          <p:nvPr/>
        </p:nvSpPr>
        <p:spPr>
          <a:xfrm>
            <a:off x="8549640" y="3124200"/>
            <a:ext cx="146304" cy="146304"/>
          </a:xfrm>
          <a:prstGeom prst="ellipse">
            <a:avLst/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42248" y="3063240"/>
            <a:ext cx="2660904" cy="2865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12"/>
              </a:lnSpc>
              <a:spcAft>
                <a:spcPts val="0"/>
              </a:spcAft>
            </a:pPr>
            <a:r>
              <a:rPr lang="zh-CN" sz="1650" b="1">
                <a:solidFill>
                  <a:srgbClr val="1E2B3A"/>
                </a:solidFill>
                <a:latin typeface="PingFang SC"/>
                <a:ea typeface="PingFang SC"/>
              </a:rPr>
              <a:t>画布就是它在论文里的大小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42248" y="3386328"/>
            <a:ext cx="2660904" cy="701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92"/>
              </a:lnSpc>
              <a:spcAft>
                <a:spcPts val="0"/>
              </a:spcAft>
            </a:pPr>
            <a:r>
              <a:rPr lang="zh-CN" sz="1400" b="0">
                <a:solidFill>
                  <a:srgbClr val="45525F"/>
                </a:solidFill>
                <a:latin typeface="PingFang SC"/>
                <a:ea typeface="PingFang SC"/>
              </a:rPr>
              <a:t>坐标用毫米，线宽、字号</a:t>
            </a:r>
          </a:p>
          <a:p>
            <a:pPr algn="l">
              <a:lnSpc>
                <a:spcPts val="1792"/>
              </a:lnSpc>
              <a:spcAft>
                <a:spcPts val="0"/>
              </a:spcAft>
            </a:pPr>
            <a:r>
              <a:rPr lang="zh-CN" sz="1400" b="0">
                <a:solidFill>
                  <a:srgbClr val="45525F"/>
                </a:solidFill>
                <a:latin typeface="PingFang SC"/>
                <a:ea typeface="PingFang SC"/>
              </a:rPr>
              <a:t>就是印出来的大小</a:t>
            </a:r>
          </a:p>
        </p:txBody>
      </p:sp>
      <p:sp>
        <p:nvSpPr>
          <p:cNvPr id="15" name="Oval 14"/>
          <p:cNvSpPr/>
          <p:nvPr/>
        </p:nvSpPr>
        <p:spPr>
          <a:xfrm>
            <a:off x="8549640" y="4541520"/>
            <a:ext cx="146304" cy="146304"/>
          </a:xfrm>
          <a:prstGeom prst="ellipse">
            <a:avLst/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42248" y="4480560"/>
            <a:ext cx="2660904" cy="2865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12"/>
              </a:lnSpc>
              <a:spcAft>
                <a:spcPts val="0"/>
              </a:spcAft>
            </a:pPr>
            <a:r>
              <a:rPr lang="zh-CN" sz="1650" b="1">
                <a:solidFill>
                  <a:srgbClr val="1E2B3A"/>
                </a:solidFill>
                <a:latin typeface="PingFang SC"/>
                <a:ea typeface="PingFang SC"/>
              </a:rPr>
              <a:t>框、标题、箭头先不画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42248" y="4803648"/>
            <a:ext cx="2660904" cy="473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92"/>
              </a:lnSpc>
              <a:spcAft>
                <a:spcPts val="0"/>
              </a:spcAft>
            </a:pPr>
            <a:r>
              <a:rPr lang="zh-CN" sz="1400" b="0">
                <a:solidFill>
                  <a:srgbClr val="45525F"/>
                </a:solidFill>
                <a:latin typeface="PingFang SC"/>
                <a:ea typeface="PingFang SC"/>
              </a:rPr>
              <a:t>留到第 4 步用 PPT 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88752" y="6446520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280"/>
              </a:lnSpc>
              <a:spcAft>
                <a:spcPts val="0"/>
              </a:spcAft>
            </a:pPr>
            <a:r>
              <a:rPr lang="zh-CN" sz="1000" b="0">
                <a:solidFill>
                  <a:srgbClr val="8592A0"/>
                </a:solidFill>
                <a:latin typeface="PingFang SC"/>
                <a:ea typeface="PingFang SC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29768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00"/>
              </a:lnSpc>
              <a:spcAft>
                <a:spcPts val="0"/>
              </a:spcAft>
            </a:pPr>
            <a:r>
              <a:rPr lang="zh-CN" sz="1250" b="1">
                <a:solidFill>
                  <a:srgbClr val="B4700F"/>
                </a:solidFill>
                <a:latin typeface="PingFang SC"/>
                <a:ea typeface="PingFang SC"/>
              </a:rPr>
              <a:t>第 3 步 · 用 Python 画组件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94944"/>
            <a:ext cx="10817352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711"/>
              </a:lnSpc>
              <a:spcAft>
                <a:spcPts val="0"/>
              </a:spcAft>
            </a:pPr>
            <a:r>
              <a:rPr lang="zh-CN" sz="2900" b="1">
                <a:solidFill>
                  <a:srgbClr val="1E2B3A"/>
                </a:solidFill>
                <a:latin typeface="PingFang SC"/>
                <a:ea typeface="PingFang SC"/>
              </a:rPr>
              <a:t>每个组件，都是一张单独的小图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475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EBCB9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2047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EBCB9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6619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1191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DDD8C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part_fig3_01_adder_signal_1_17e1643291_ed4e790cc7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2177818"/>
            <a:ext cx="3382682" cy="1563796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9" name="Rounded Rectangle 8"/>
          <p:cNvSpPr/>
          <p:nvPr/>
        </p:nvSpPr>
        <p:spPr>
          <a:xfrm>
            <a:off x="685800" y="2013226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D08A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600"/>
              </a:lnSpc>
              <a:spcAft>
                <a:spcPts val="0"/>
              </a:spcAft>
            </a:pPr>
            <a:r>
              <a:rPr lang="zh-CN" sz="1250" b="1">
                <a:solidFill>
                  <a:srgbClr val="FFFFFF"/>
                </a:solidFill>
                <a:latin typeface="PingFang SC"/>
                <a:ea typeface="PingFang SC"/>
              </a:rPr>
              <a:t>1</a:t>
            </a:r>
          </a:p>
        </p:txBody>
      </p:sp>
      <p:pic>
        <p:nvPicPr>
          <p:cNvPr id="10" name="Picture 9" descr="part_fig3_02_aggregator_ev_3_7cd28d1bab_79efa172a8b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394" y="2177479"/>
            <a:ext cx="2269021" cy="1564475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1" name="Rounded Rectangle 10"/>
          <p:cNvSpPr/>
          <p:nvPr/>
        </p:nvSpPr>
        <p:spPr>
          <a:xfrm>
            <a:off x="4342802" y="2013226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D08A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600"/>
              </a:lnSpc>
              <a:spcAft>
                <a:spcPts val="0"/>
              </a:spcAft>
            </a:pPr>
            <a:r>
              <a:rPr lang="zh-CN" sz="1250" b="1">
                <a:solidFill>
                  <a:srgbClr val="FFFFFF"/>
                </a:solidFill>
                <a:latin typeface="PingFang SC"/>
                <a:ea typeface="PingFang SC"/>
              </a:rPr>
              <a:t>2</a:t>
            </a:r>
          </a:p>
        </p:txBody>
      </p:sp>
      <p:pic>
        <p:nvPicPr>
          <p:cNvPr id="12" name="Picture 11" descr="part_fig3_03_response_archive_1_850875151f_b85fb13c2b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0735" y="2177818"/>
            <a:ext cx="4452417" cy="1563796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3" name="Rounded Rectangle 12"/>
          <p:cNvSpPr/>
          <p:nvPr/>
        </p:nvSpPr>
        <p:spPr>
          <a:xfrm>
            <a:off x="6886143" y="2013226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D08A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600"/>
              </a:lnSpc>
              <a:spcAft>
                <a:spcPts val="0"/>
              </a:spcAft>
            </a:pPr>
            <a:r>
              <a:rPr lang="zh-CN" sz="1250" b="1">
                <a:solidFill>
                  <a:srgbClr val="FFFFFF"/>
                </a:solidFill>
                <a:latin typeface="PingFang SC"/>
                <a:ea typeface="PingFang SC"/>
              </a:rPr>
              <a:t>3</a:t>
            </a:r>
          </a:p>
        </p:txBody>
      </p:sp>
      <p:pic>
        <p:nvPicPr>
          <p:cNvPr id="14" name="Picture 13" descr="part_fig3_04_learned_surface_ev_3_c0c604d665_4b85809842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" y="4033871"/>
            <a:ext cx="1905523" cy="1789662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5" name="Rounded Rectangle 14"/>
          <p:cNvSpPr/>
          <p:nvPr/>
        </p:nvSpPr>
        <p:spPr>
          <a:xfrm>
            <a:off x="685800" y="3869631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D08A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600"/>
              </a:lnSpc>
              <a:spcAft>
                <a:spcPts val="0"/>
              </a:spcAft>
            </a:pPr>
            <a:r>
              <a:rPr lang="zh-CN" sz="1250" b="1">
                <a:solidFill>
                  <a:srgbClr val="FFFFFF"/>
                </a:solidFill>
                <a:latin typeface="PingFang SC"/>
                <a:ea typeface="PingFang SC"/>
              </a:rPr>
              <a:t>4</a:t>
            </a:r>
          </a:p>
        </p:txBody>
      </p:sp>
      <p:pic>
        <p:nvPicPr>
          <p:cNvPr id="16" name="Picture 15" descr="part_fig3_05_random_features_1_89bee01fee_85fb7ab3c68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30235" y="4034223"/>
            <a:ext cx="4745318" cy="1788959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7" name="Rounded Rectangle 16"/>
          <p:cNvSpPr/>
          <p:nvPr/>
        </p:nvSpPr>
        <p:spPr>
          <a:xfrm>
            <a:off x="2865643" y="3869631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D08A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600"/>
              </a:lnSpc>
              <a:spcAft>
                <a:spcPts val="0"/>
              </a:spcAft>
            </a:pPr>
            <a:r>
              <a:rPr lang="zh-CN" sz="1250" b="1">
                <a:solidFill>
                  <a:srgbClr val="FFFFFF"/>
                </a:solidFill>
                <a:latin typeface="PingFang SC"/>
                <a:ea typeface="PingFang SC"/>
              </a:rPr>
              <a:t>5</a:t>
            </a:r>
          </a:p>
        </p:txBody>
      </p:sp>
      <p:pic>
        <p:nvPicPr>
          <p:cNvPr id="18" name="Picture 17" descr="part_fig3_06_posterior_1_1eb629a73b_19bf6e8ee52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9873" y="4034223"/>
            <a:ext cx="3453279" cy="1788959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9" name="Rounded Rectangle 18"/>
          <p:cNvSpPr/>
          <p:nvPr/>
        </p:nvSpPr>
        <p:spPr>
          <a:xfrm>
            <a:off x="7885281" y="3869631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D08A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600"/>
              </a:lnSpc>
              <a:spcAft>
                <a:spcPts val="0"/>
              </a:spcAft>
            </a:pPr>
            <a:r>
              <a:rPr lang="zh-CN" sz="1250" b="1">
                <a:solidFill>
                  <a:srgbClr val="FFFFFF"/>
                </a:solidFill>
                <a:latin typeface="PingFang SC"/>
                <a:ea typeface="PingFang SC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88752" y="6446520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280"/>
              </a:lnSpc>
              <a:spcAft>
                <a:spcPts val="0"/>
              </a:spcAft>
            </a:pPr>
            <a:r>
              <a:rPr lang="zh-CN" sz="1000" b="0">
                <a:solidFill>
                  <a:srgbClr val="8592A0"/>
                </a:solidFill>
                <a:latin typeface="PingFang SC"/>
                <a:ea typeface="PingFang SC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29768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00"/>
              </a:lnSpc>
              <a:spcAft>
                <a:spcPts val="0"/>
              </a:spcAft>
            </a:pPr>
            <a:r>
              <a:rPr lang="zh-CN" sz="1250" b="1">
                <a:solidFill>
                  <a:srgbClr val="B4700F"/>
                </a:solidFill>
                <a:latin typeface="PingFang SC"/>
                <a:ea typeface="PingFang SC"/>
              </a:rPr>
              <a:t>第 3 步 · 用 Python 画组件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94944"/>
            <a:ext cx="10817352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711"/>
              </a:lnSpc>
              <a:spcAft>
                <a:spcPts val="0"/>
              </a:spcAft>
            </a:pPr>
            <a:r>
              <a:rPr lang="zh-CN" sz="2900" b="1">
                <a:solidFill>
                  <a:srgbClr val="1E2B3A"/>
                </a:solidFill>
                <a:latin typeface="PingFang SC"/>
                <a:ea typeface="PingFang SC"/>
              </a:rPr>
              <a:t>改哪个，就只重画哪个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475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EBCB9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2047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EBCB9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6619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1191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DDD8C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part_fig3_07_feeder_1_48c0a6bccc_859dc9197e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540" y="1691640"/>
            <a:ext cx="3209330" cy="1676261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9" name="Rounded Rectangle 8"/>
          <p:cNvSpPr/>
          <p:nvPr/>
        </p:nvSpPr>
        <p:spPr>
          <a:xfrm>
            <a:off x="1021948" y="1527048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D08A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600"/>
              </a:lnSpc>
              <a:spcAft>
                <a:spcPts val="0"/>
              </a:spcAft>
            </a:pPr>
            <a:r>
              <a:rPr lang="zh-CN" sz="1250" b="1">
                <a:solidFill>
                  <a:srgbClr val="FFFFFF"/>
                </a:solidFill>
                <a:latin typeface="PingFang SC"/>
                <a:ea typeface="PingFang SC"/>
              </a:rPr>
              <a:t>7</a:t>
            </a:r>
          </a:p>
        </p:txBody>
      </p:sp>
      <p:pic>
        <p:nvPicPr>
          <p:cNvPr id="10" name="Picture 9" descr="part_fig3_08_every_sampled_draw_1_7a7b942b84_d51bf546f8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0190" y="1691281"/>
            <a:ext cx="1588551" cy="1676979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1" name="Rounded Rectangle 10"/>
          <p:cNvSpPr/>
          <p:nvPr/>
        </p:nvSpPr>
        <p:spPr>
          <a:xfrm>
            <a:off x="4505598" y="1527048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D08A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600"/>
              </a:lnSpc>
              <a:spcAft>
                <a:spcPts val="0"/>
              </a:spcAft>
            </a:pPr>
            <a:r>
              <a:rPr lang="zh-CN" sz="1250" b="1">
                <a:solidFill>
                  <a:srgbClr val="FFFFFF"/>
                </a:solidFill>
                <a:latin typeface="PingFang SC"/>
                <a:ea typeface="PingFang SC"/>
              </a:rPr>
              <a:t>8</a:t>
            </a:r>
          </a:p>
        </p:txBody>
      </p:sp>
      <p:pic>
        <p:nvPicPr>
          <p:cNvPr id="12" name="Picture 11" descr="part_fig3_09_posterior_sampling_1_9cf7c79f5b_07e9b54674a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3060" y="1691640"/>
            <a:ext cx="4633944" cy="1676261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3" name="Rounded Rectangle 12"/>
          <p:cNvSpPr/>
          <p:nvPr/>
        </p:nvSpPr>
        <p:spPr>
          <a:xfrm>
            <a:off x="6368468" y="1527048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D08A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600"/>
              </a:lnSpc>
              <a:spcAft>
                <a:spcPts val="0"/>
              </a:spcAft>
            </a:pPr>
            <a:r>
              <a:rPr lang="zh-CN" sz="1250" b="1">
                <a:solidFill>
                  <a:srgbClr val="FFFFFF"/>
                </a:solidFill>
                <a:latin typeface="PingFang SC"/>
                <a:ea typeface="PingFang SC"/>
              </a:rPr>
              <a:t>9</a:t>
            </a:r>
          </a:p>
        </p:txBody>
      </p:sp>
      <p:pic>
        <p:nvPicPr>
          <p:cNvPr id="14" name="Picture 13" descr="part_fig3_10_surrogate_search_1_5995d217ad_32ede9f305e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6540" y="3642097"/>
            <a:ext cx="2787821" cy="1279716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5" name="Rounded Rectangle 14"/>
          <p:cNvSpPr/>
          <p:nvPr/>
        </p:nvSpPr>
        <p:spPr>
          <a:xfrm>
            <a:off x="1021948" y="3477629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D08A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408"/>
              </a:lnSpc>
              <a:spcAft>
                <a:spcPts val="0"/>
              </a:spcAft>
            </a:pPr>
            <a:r>
              <a:rPr lang="zh-CN" sz="1100" b="1">
                <a:solidFill>
                  <a:srgbClr val="FFFFFF"/>
                </a:solidFill>
                <a:latin typeface="PingFang SC"/>
                <a:ea typeface="PingFang SC"/>
              </a:rPr>
              <a:t>10</a:t>
            </a:r>
          </a:p>
        </p:txBody>
      </p:sp>
      <p:pic>
        <p:nvPicPr>
          <p:cNvPr id="16" name="Picture 15" descr="part_fig3_11_candidate_batch_1_eb49fb7982_bcc04e07096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48681" y="3642221"/>
            <a:ext cx="4700263" cy="1279467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7" name="Rounded Rectangle 16"/>
          <p:cNvSpPr/>
          <p:nvPr/>
        </p:nvSpPr>
        <p:spPr>
          <a:xfrm>
            <a:off x="4084089" y="3477629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D08A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408"/>
              </a:lnSpc>
              <a:spcAft>
                <a:spcPts val="0"/>
              </a:spcAft>
            </a:pPr>
            <a:r>
              <a:rPr lang="zh-CN" sz="1100" b="1">
                <a:solidFill>
                  <a:srgbClr val="FFFFFF"/>
                </a:solidFill>
                <a:latin typeface="PingFang SC"/>
                <a:ea typeface="PingFang SC"/>
              </a:rPr>
              <a:t>11</a:t>
            </a:r>
          </a:p>
        </p:txBody>
      </p:sp>
      <p:pic>
        <p:nvPicPr>
          <p:cNvPr id="18" name="Picture 17" descr="part_fig3_12_ranked_signals_1_f07eb97627_374da2d2ff0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23264" y="3642142"/>
            <a:ext cx="1943741" cy="1279624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9" name="Rounded Rectangle 18"/>
          <p:cNvSpPr/>
          <p:nvPr/>
        </p:nvSpPr>
        <p:spPr>
          <a:xfrm>
            <a:off x="9058672" y="3477629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D08A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408"/>
              </a:lnSpc>
              <a:spcAft>
                <a:spcPts val="0"/>
              </a:spcAft>
            </a:pPr>
            <a:r>
              <a:rPr lang="zh-CN" sz="1100" b="1">
                <a:solidFill>
                  <a:srgbClr val="FFFFFF"/>
                </a:solidFill>
                <a:latin typeface="PingFang SC"/>
                <a:ea typeface="PingFang SC"/>
              </a:rPr>
              <a:t>12</a:t>
            </a:r>
          </a:p>
        </p:txBody>
      </p:sp>
      <p:pic>
        <p:nvPicPr>
          <p:cNvPr id="20" name="Picture 19" descr="part_fig3_13_hourly_operation_1_f4b42ce229_bdd852ce267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4731" y="5196374"/>
            <a:ext cx="9904083" cy="1112620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21" name="Rounded Rectangle 20"/>
          <p:cNvSpPr/>
          <p:nvPr/>
        </p:nvSpPr>
        <p:spPr>
          <a:xfrm>
            <a:off x="1060139" y="5031416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D08A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408"/>
              </a:lnSpc>
              <a:spcAft>
                <a:spcPts val="0"/>
              </a:spcAft>
            </a:pPr>
            <a:r>
              <a:rPr lang="zh-CN" sz="1100" b="1">
                <a:solidFill>
                  <a:srgbClr val="FFFFFF"/>
                </a:solidFill>
                <a:latin typeface="PingFang SC"/>
                <a:ea typeface="PingFang SC"/>
              </a:rPr>
              <a:t>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88752" y="6446520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280"/>
              </a:lnSpc>
              <a:spcAft>
                <a:spcPts val="0"/>
              </a:spcAft>
            </a:pPr>
            <a:r>
              <a:rPr lang="zh-CN" sz="1000" b="0">
                <a:solidFill>
                  <a:srgbClr val="8592A0"/>
                </a:solidFill>
                <a:latin typeface="PingFang SC"/>
                <a:ea typeface="PingFang SC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29768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00"/>
              </a:lnSpc>
              <a:spcAft>
                <a:spcPts val="0"/>
              </a:spcAft>
            </a:pPr>
            <a:r>
              <a:rPr lang="zh-CN" sz="1250" b="1">
                <a:solidFill>
                  <a:srgbClr val="B4700F"/>
                </a:solidFill>
                <a:latin typeface="PingFang SC"/>
                <a:ea typeface="PingFang SC"/>
              </a:rPr>
              <a:t>第 3 步 · 用 Python 画组件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94944"/>
            <a:ext cx="10817352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711"/>
              </a:lnSpc>
              <a:spcAft>
                <a:spcPts val="0"/>
              </a:spcAft>
            </a:pPr>
            <a:r>
              <a:rPr lang="zh-CN" sz="2900" b="1">
                <a:solidFill>
                  <a:srgbClr val="1E2B3A"/>
                </a:solidFill>
                <a:latin typeface="PingFang SC"/>
                <a:ea typeface="PingFang SC"/>
              </a:rPr>
              <a:t>立体感：斜投影 + 三种明暗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43584"/>
            <a:ext cx="10817352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84"/>
              </a:lnSpc>
              <a:spcAft>
                <a:spcPts val="0"/>
              </a:spcAft>
            </a:pPr>
            <a:r>
              <a:rPr lang="zh-CN" sz="1550" b="0">
                <a:solidFill>
                  <a:srgbClr val="45525F"/>
                </a:solidFill>
                <a:latin typeface="PingFang SC"/>
                <a:ea typeface="PingFang SC"/>
              </a:rPr>
              <a:t>热力图板、档案卡片、柱场、排序立柱，都靠这一招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475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EBCB9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2047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EBCB9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6619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1191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DDD8C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teach_cube_1_e95c23c867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443" y="1783777"/>
            <a:ext cx="1382385" cy="1370207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0" name="TextBox 9"/>
          <p:cNvSpPr txBox="1"/>
          <p:nvPr/>
        </p:nvSpPr>
        <p:spPr>
          <a:xfrm>
            <a:off x="685800" y="3246120"/>
            <a:ext cx="194767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728"/>
              </a:lnSpc>
              <a:spcAft>
                <a:spcPts val="0"/>
              </a:spcAft>
            </a:pPr>
            <a:r>
              <a:rPr lang="zh-CN" sz="1350" b="0">
                <a:solidFill>
                  <a:srgbClr val="45525F"/>
                </a:solidFill>
                <a:latin typeface="PingFang SC"/>
                <a:ea typeface="PingFang SC"/>
              </a:rPr>
              <a:t>① 地板和网格</a:t>
            </a:r>
          </a:p>
        </p:txBody>
      </p:sp>
      <p:pic>
        <p:nvPicPr>
          <p:cNvPr id="11" name="Picture 10" descr="teach_cube_2_411fe2b92f8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5863" y="1783777"/>
            <a:ext cx="1382385" cy="1370207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2" name="TextBox 11"/>
          <p:cNvSpPr txBox="1"/>
          <p:nvPr/>
        </p:nvSpPr>
        <p:spPr>
          <a:xfrm>
            <a:off x="2903220" y="3246120"/>
            <a:ext cx="194767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728"/>
              </a:lnSpc>
              <a:spcAft>
                <a:spcPts val="0"/>
              </a:spcAft>
            </a:pPr>
            <a:r>
              <a:rPr lang="zh-CN" sz="1350" b="0">
                <a:solidFill>
                  <a:srgbClr val="45525F"/>
                </a:solidFill>
                <a:latin typeface="PingFang SC"/>
                <a:ea typeface="PingFang SC"/>
              </a:rPr>
              <a:t>② 落地阴影</a:t>
            </a:r>
          </a:p>
        </p:txBody>
      </p:sp>
      <p:pic>
        <p:nvPicPr>
          <p:cNvPr id="13" name="Picture 12" descr="teach_cube_3_e52b3ab3c2a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3283" y="1783777"/>
            <a:ext cx="1382385" cy="1370207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4" name="TextBox 13"/>
          <p:cNvSpPr txBox="1"/>
          <p:nvPr/>
        </p:nvSpPr>
        <p:spPr>
          <a:xfrm>
            <a:off x="5120640" y="3246120"/>
            <a:ext cx="194767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728"/>
              </a:lnSpc>
              <a:spcAft>
                <a:spcPts val="0"/>
              </a:spcAft>
            </a:pPr>
            <a:r>
              <a:rPr lang="zh-CN" sz="1350" b="0">
                <a:solidFill>
                  <a:srgbClr val="45525F"/>
                </a:solidFill>
                <a:latin typeface="PingFang SC"/>
                <a:ea typeface="PingFang SC"/>
              </a:rPr>
              <a:t>③ 右侧面：掺黑</a:t>
            </a:r>
          </a:p>
        </p:txBody>
      </p:sp>
      <p:pic>
        <p:nvPicPr>
          <p:cNvPr id="15" name="Picture 14" descr="teach_cube_4_9f3a418e42c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703" y="1783777"/>
            <a:ext cx="1382385" cy="1370207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6" name="TextBox 15"/>
          <p:cNvSpPr txBox="1"/>
          <p:nvPr/>
        </p:nvSpPr>
        <p:spPr>
          <a:xfrm>
            <a:off x="7338060" y="3246120"/>
            <a:ext cx="194767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728"/>
              </a:lnSpc>
              <a:spcAft>
                <a:spcPts val="0"/>
              </a:spcAft>
            </a:pPr>
            <a:r>
              <a:rPr lang="zh-CN" sz="1350" b="0">
                <a:solidFill>
                  <a:srgbClr val="45525F"/>
                </a:solidFill>
                <a:latin typeface="PingFang SC"/>
                <a:ea typeface="PingFang SC"/>
              </a:rPr>
              <a:t>④ 正面：本色</a:t>
            </a:r>
          </a:p>
        </p:txBody>
      </p:sp>
      <p:pic>
        <p:nvPicPr>
          <p:cNvPr id="17" name="Picture 16" descr="teach_cube_5_a66ebbd3054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38123" y="1783777"/>
            <a:ext cx="1382385" cy="1370207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8" name="TextBox 17"/>
          <p:cNvSpPr txBox="1"/>
          <p:nvPr/>
        </p:nvSpPr>
        <p:spPr>
          <a:xfrm>
            <a:off x="9555480" y="3246120"/>
            <a:ext cx="194767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728"/>
              </a:lnSpc>
              <a:spcAft>
                <a:spcPts val="0"/>
              </a:spcAft>
            </a:pPr>
            <a:r>
              <a:rPr lang="zh-CN" sz="1350" b="1">
                <a:solidFill>
                  <a:srgbClr val="1E2B3A"/>
                </a:solidFill>
                <a:latin typeface="PingFang SC"/>
                <a:ea typeface="PingFang SC"/>
              </a:rPr>
              <a:t>⑤ 顶面：掺白，描亮边</a:t>
            </a:r>
          </a:p>
        </p:txBody>
      </p:sp>
      <p:pic>
        <p:nvPicPr>
          <p:cNvPr id="19" name="Picture 18" descr="code_pill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3749040"/>
            <a:ext cx="6664710" cy="2560320"/>
          </a:xfrm>
          <a:prstGeom prst="rect">
            <a:avLst/>
          </a:prstGeom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20" name="Oval 19"/>
          <p:cNvSpPr/>
          <p:nvPr/>
        </p:nvSpPr>
        <p:spPr>
          <a:xfrm>
            <a:off x="7818120" y="3992880"/>
            <a:ext cx="146304" cy="146304"/>
          </a:xfrm>
          <a:prstGeom prst="ellipse">
            <a:avLst/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10728" y="3931920"/>
            <a:ext cx="3392424" cy="2865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12"/>
              </a:lnSpc>
              <a:spcAft>
                <a:spcPts val="0"/>
              </a:spcAft>
            </a:pPr>
            <a:r>
              <a:rPr lang="zh-CN" sz="1650" b="1">
                <a:solidFill>
                  <a:srgbClr val="1E2B3A"/>
                </a:solidFill>
                <a:latin typeface="PingFang SC"/>
                <a:ea typeface="PingFang SC"/>
              </a:rPr>
              <a:t>没有 3D 引擎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10728" y="4255008"/>
            <a:ext cx="3392424" cy="701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92"/>
              </a:lnSpc>
              <a:spcAft>
                <a:spcPts val="0"/>
              </a:spcAft>
            </a:pPr>
            <a:r>
              <a:rPr lang="zh-CN" sz="1400" b="0">
                <a:solidFill>
                  <a:srgbClr val="45525F"/>
                </a:solidFill>
                <a:latin typeface="PingFang SC"/>
                <a:ea typeface="PingFang SC"/>
              </a:rPr>
              <a:t>每个面都是算出四个角点的多边形，</a:t>
            </a:r>
          </a:p>
          <a:p>
            <a:pPr algn="l">
              <a:lnSpc>
                <a:spcPts val="1792"/>
              </a:lnSpc>
              <a:spcAft>
                <a:spcPts val="0"/>
              </a:spcAft>
            </a:pPr>
            <a:r>
              <a:rPr lang="zh-CN" sz="1400" b="0">
                <a:solidFill>
                  <a:srgbClr val="45525F"/>
                </a:solidFill>
                <a:latin typeface="PingFang SC"/>
                <a:ea typeface="PingFang SC"/>
              </a:rPr>
              <a:t>从后往前画，前面的自然盖住后面的</a:t>
            </a:r>
          </a:p>
        </p:txBody>
      </p:sp>
      <p:sp>
        <p:nvSpPr>
          <p:cNvPr id="23" name="Oval 22"/>
          <p:cNvSpPr/>
          <p:nvPr/>
        </p:nvSpPr>
        <p:spPr>
          <a:xfrm>
            <a:off x="7818120" y="5227320"/>
            <a:ext cx="146304" cy="146304"/>
          </a:xfrm>
          <a:prstGeom prst="ellipse">
            <a:avLst/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10728" y="5166360"/>
            <a:ext cx="3392424" cy="2865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12"/>
              </a:lnSpc>
              <a:spcAft>
                <a:spcPts val="0"/>
              </a:spcAft>
            </a:pPr>
            <a:r>
              <a:rPr lang="zh-CN" sz="1650" b="1">
                <a:solidFill>
                  <a:srgbClr val="1E2B3A"/>
                </a:solidFill>
                <a:latin typeface="PingFang SC"/>
                <a:ea typeface="PingFang SC"/>
              </a:rPr>
              <a:t>三种明暗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0728" y="5489448"/>
            <a:ext cx="3392424" cy="701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92"/>
              </a:lnSpc>
              <a:spcAft>
                <a:spcPts val="0"/>
              </a:spcAft>
            </a:pPr>
            <a:r>
              <a:rPr lang="zh-CN" sz="1400" b="0">
                <a:solidFill>
                  <a:srgbClr val="45525F"/>
                </a:solidFill>
                <a:latin typeface="PingFang SC"/>
                <a:ea typeface="PingFang SC"/>
              </a:rPr>
              <a:t>同一个本色：顶面掺白、侧面掺黑，</a:t>
            </a:r>
          </a:p>
          <a:p>
            <a:pPr algn="l">
              <a:lnSpc>
                <a:spcPts val="1792"/>
              </a:lnSpc>
              <a:spcAft>
                <a:spcPts val="0"/>
              </a:spcAft>
            </a:pPr>
            <a:r>
              <a:rPr lang="zh-CN" sz="1400" b="0">
                <a:solidFill>
                  <a:srgbClr val="45525F"/>
                </a:solidFill>
                <a:latin typeface="PingFang SC"/>
                <a:ea typeface="PingFang SC"/>
              </a:rPr>
              <a:t>再加一块半透明的影子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88752" y="6446520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280"/>
              </a:lnSpc>
              <a:spcAft>
                <a:spcPts val="0"/>
              </a:spcAft>
            </a:pPr>
            <a:r>
              <a:rPr lang="zh-CN" sz="1000" b="0">
                <a:solidFill>
                  <a:srgbClr val="8592A0"/>
                </a:solidFill>
                <a:latin typeface="PingFang SC"/>
                <a:ea typeface="PingFang SC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29768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00"/>
              </a:lnSpc>
              <a:spcAft>
                <a:spcPts val="0"/>
              </a:spcAft>
            </a:pPr>
            <a:r>
              <a:rPr lang="zh-CN" sz="1250" b="1">
                <a:solidFill>
                  <a:srgbClr val="B4700F"/>
                </a:solidFill>
                <a:latin typeface="PingFang SC"/>
                <a:ea typeface="PingFang SC"/>
              </a:rPr>
              <a:t>第 3 步 · 用 Python 画组件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94944"/>
            <a:ext cx="10817352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711"/>
              </a:lnSpc>
              <a:spcAft>
                <a:spcPts val="0"/>
              </a:spcAft>
            </a:pPr>
            <a:r>
              <a:rPr lang="zh-CN" sz="2900" b="1">
                <a:solidFill>
                  <a:srgbClr val="1E2B3A"/>
                </a:solidFill>
                <a:latin typeface="PingFang SC"/>
                <a:ea typeface="PingFang SC"/>
              </a:rPr>
              <a:t>热力图板：数值查颜色，再拉出厚度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43584"/>
            <a:ext cx="10817352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84"/>
              </a:lnSpc>
              <a:spcAft>
                <a:spcPts val="0"/>
              </a:spcAft>
            </a:pPr>
            <a:r>
              <a:rPr lang="zh-CN" sz="1550" b="0">
                <a:solidFill>
                  <a:srgbClr val="45525F"/>
                </a:solidFill>
                <a:latin typeface="PingFang SC"/>
                <a:ea typeface="PingFang SC"/>
              </a:rPr>
              <a:t>1 号组件：Fig. 3 左上角的加价信号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475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EBCB9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2047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EBCB9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6619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1191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DDD8C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teach_heat_1_9c589b7b00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876" y="1783051"/>
            <a:ext cx="2542169" cy="1143058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0" name="TextBox 9"/>
          <p:cNvSpPr txBox="1"/>
          <p:nvPr/>
        </p:nvSpPr>
        <p:spPr>
          <a:xfrm>
            <a:off x="685800" y="301752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728"/>
              </a:lnSpc>
              <a:spcAft>
                <a:spcPts val="0"/>
              </a:spcAft>
            </a:pPr>
            <a:r>
              <a:rPr lang="zh-CN" sz="1350" b="0">
                <a:solidFill>
                  <a:srgbClr val="45525F"/>
                </a:solidFill>
                <a:latin typeface="PingFang SC"/>
                <a:ea typeface="PingFang SC"/>
              </a:rPr>
              <a:t>① 顶面：每格按数值查颜色</a:t>
            </a:r>
          </a:p>
        </p:txBody>
      </p:sp>
      <p:pic>
        <p:nvPicPr>
          <p:cNvPr id="11" name="Picture 10" descr="teach_heat_2_7155fa9e295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7220" y="1783051"/>
            <a:ext cx="2542169" cy="1143058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2" name="TextBox 11"/>
          <p:cNvSpPr txBox="1"/>
          <p:nvPr/>
        </p:nvSpPr>
        <p:spPr>
          <a:xfrm>
            <a:off x="3438144" y="301752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728"/>
              </a:lnSpc>
              <a:spcAft>
                <a:spcPts val="0"/>
              </a:spcAft>
            </a:pPr>
            <a:r>
              <a:rPr lang="zh-CN" sz="1350" b="0">
                <a:solidFill>
                  <a:srgbClr val="45525F"/>
                </a:solidFill>
                <a:latin typeface="PingFang SC"/>
                <a:ea typeface="PingFang SC"/>
              </a:rPr>
              <a:t>② 正面：往下拉出板厚</a:t>
            </a:r>
          </a:p>
        </p:txBody>
      </p:sp>
      <p:pic>
        <p:nvPicPr>
          <p:cNvPr id="13" name="Picture 12" descr="teach_heat_3_30796c517b6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564" y="1783051"/>
            <a:ext cx="2542169" cy="1143058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4" name="TextBox 13"/>
          <p:cNvSpPr txBox="1"/>
          <p:nvPr/>
        </p:nvSpPr>
        <p:spPr>
          <a:xfrm>
            <a:off x="6190488" y="301752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728"/>
              </a:lnSpc>
              <a:spcAft>
                <a:spcPts val="0"/>
              </a:spcAft>
            </a:pPr>
            <a:r>
              <a:rPr lang="zh-CN" sz="1350" b="0">
                <a:solidFill>
                  <a:srgbClr val="45525F"/>
                </a:solidFill>
                <a:latin typeface="PingFang SC"/>
                <a:ea typeface="PingFang SC"/>
              </a:rPr>
              <a:t>③ 右侧面：掺得更黑</a:t>
            </a:r>
          </a:p>
        </p:txBody>
      </p:sp>
      <p:pic>
        <p:nvPicPr>
          <p:cNvPr id="15" name="Picture 14" descr="teach_heat_4_d855ed976fb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1908" y="1783051"/>
            <a:ext cx="2542169" cy="1143058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6" name="TextBox 15"/>
          <p:cNvSpPr txBox="1"/>
          <p:nvPr/>
        </p:nvSpPr>
        <p:spPr>
          <a:xfrm>
            <a:off x="8942832" y="301752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728"/>
              </a:lnSpc>
              <a:spcAft>
                <a:spcPts val="0"/>
              </a:spcAft>
            </a:pPr>
            <a:r>
              <a:rPr lang="zh-CN" sz="1350" b="0">
                <a:solidFill>
                  <a:srgbClr val="45525F"/>
                </a:solidFill>
                <a:latin typeface="PingFang SC"/>
                <a:ea typeface="PingFang SC"/>
              </a:rPr>
              <a:t>④ 用带箭头的文字代替坐标轴</a:t>
            </a:r>
          </a:p>
        </p:txBody>
      </p:sp>
      <p:pic>
        <p:nvPicPr>
          <p:cNvPr id="17" name="Picture 16" descr="code_hea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520440"/>
            <a:ext cx="6123661" cy="2788920"/>
          </a:xfrm>
          <a:prstGeom prst="rect">
            <a:avLst/>
          </a:prstGeom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8" name="Oval 17"/>
          <p:cNvSpPr/>
          <p:nvPr/>
        </p:nvSpPr>
        <p:spPr>
          <a:xfrm>
            <a:off x="7178040" y="3764280"/>
            <a:ext cx="146304" cy="146304"/>
          </a:xfrm>
          <a:prstGeom prst="ellipse">
            <a:avLst/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70648" y="3703320"/>
            <a:ext cx="4032504" cy="2865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12"/>
              </a:lnSpc>
              <a:spcAft>
                <a:spcPts val="0"/>
              </a:spcAft>
            </a:pPr>
            <a:r>
              <a:rPr lang="zh-CN" sz="1650" b="1">
                <a:solidFill>
                  <a:srgbClr val="1E2B3A"/>
                </a:solidFill>
                <a:latin typeface="PingFang SC"/>
                <a:ea typeface="PingFang SC"/>
              </a:rPr>
              <a:t>平面热力图一行就够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70648" y="4026408"/>
            <a:ext cx="4032504" cy="473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92"/>
              </a:lnSpc>
              <a:spcAft>
                <a:spcPts val="0"/>
              </a:spcAft>
            </a:pPr>
            <a:r>
              <a:rPr lang="zh-CN" sz="1400" b="0">
                <a:solidFill>
                  <a:srgbClr val="45525F"/>
                </a:solidFill>
                <a:latin typeface="Consolas"/>
                <a:ea typeface="PingFang SC"/>
              </a:rPr>
              <a:t>ax.imshow(A, cmap=cmap)</a:t>
            </a:r>
          </a:p>
        </p:txBody>
      </p:sp>
      <p:sp>
        <p:nvSpPr>
          <p:cNvPr id="21" name="Oval 20"/>
          <p:cNvSpPr/>
          <p:nvPr/>
        </p:nvSpPr>
        <p:spPr>
          <a:xfrm>
            <a:off x="7178040" y="4861560"/>
            <a:ext cx="146304" cy="146304"/>
          </a:xfrm>
          <a:prstGeom prst="ellipse">
            <a:avLst/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70648" y="4800600"/>
            <a:ext cx="4032504" cy="2865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12"/>
              </a:lnSpc>
              <a:spcAft>
                <a:spcPts val="0"/>
              </a:spcAft>
            </a:pPr>
            <a:r>
              <a:rPr lang="zh-CN" sz="1650" b="1">
                <a:solidFill>
                  <a:srgbClr val="1E2B3A"/>
                </a:solidFill>
                <a:latin typeface="PingFang SC"/>
                <a:ea typeface="PingFang SC"/>
              </a:rPr>
              <a:t>斜着画、加厚度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70648" y="5123688"/>
            <a:ext cx="4032504" cy="701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92"/>
              </a:lnSpc>
              <a:spcAft>
                <a:spcPts val="0"/>
              </a:spcAft>
            </a:pPr>
            <a:r>
              <a:rPr lang="zh-CN" sz="1400" b="0">
                <a:solidFill>
                  <a:srgbClr val="45525F"/>
                </a:solidFill>
                <a:latin typeface="PingFang SC"/>
                <a:ea typeface="PingFang SC"/>
              </a:rPr>
              <a:t>为了和图里其他立体部件统一：</a:t>
            </a:r>
          </a:p>
          <a:p>
            <a:pPr algn="l">
              <a:lnSpc>
                <a:spcPts val="1792"/>
              </a:lnSpc>
              <a:spcAft>
                <a:spcPts val="0"/>
              </a:spcAft>
            </a:pPr>
            <a:r>
              <a:rPr lang="zh-CN" sz="1400" b="0">
                <a:solidFill>
                  <a:srgbClr val="45525F"/>
                </a:solidFill>
                <a:latin typeface="PingFang SC"/>
                <a:ea typeface="PingFang SC"/>
              </a:rPr>
              <a:t>顶面查颜色，正面掺黑 18%，侧面掺黑 30%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88752" y="6446520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280"/>
              </a:lnSpc>
              <a:spcAft>
                <a:spcPts val="0"/>
              </a:spcAft>
            </a:pPr>
            <a:r>
              <a:rPr lang="zh-CN" sz="1000" b="0">
                <a:solidFill>
                  <a:srgbClr val="8592A0"/>
                </a:solidFill>
                <a:latin typeface="PingFang SC"/>
                <a:ea typeface="PingFang SC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29768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00"/>
              </a:lnSpc>
              <a:spcAft>
                <a:spcPts val="0"/>
              </a:spcAft>
            </a:pPr>
            <a:r>
              <a:rPr lang="zh-CN" sz="1250" b="1">
                <a:solidFill>
                  <a:srgbClr val="B4700F"/>
                </a:solidFill>
                <a:latin typeface="PingFang SC"/>
                <a:ea typeface="PingFang SC"/>
              </a:rPr>
              <a:t>第 3 步 · 用 Python 画组件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94944"/>
            <a:ext cx="10817352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711"/>
              </a:lnSpc>
              <a:spcAft>
                <a:spcPts val="0"/>
              </a:spcAft>
            </a:pPr>
            <a:r>
              <a:rPr lang="zh-CN" sz="2900" b="1">
                <a:solidFill>
                  <a:srgbClr val="1E2B3A"/>
                </a:solidFill>
                <a:latin typeface="PingFang SC"/>
                <a:ea typeface="PingFang SC"/>
              </a:rPr>
              <a:t>曲面：函数取点，小格拼起来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43584"/>
            <a:ext cx="10817352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84"/>
              </a:lnSpc>
              <a:spcAft>
                <a:spcPts val="0"/>
              </a:spcAft>
            </a:pPr>
            <a:r>
              <a:rPr lang="zh-CN" sz="1550" b="0">
                <a:solidFill>
                  <a:srgbClr val="45525F"/>
                </a:solidFill>
                <a:latin typeface="PingFang SC"/>
                <a:ea typeface="PingFang SC"/>
              </a:rPr>
              <a:t>4 号组件的三个响应曲面，还有 13 号决策曲面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475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EBCB9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2047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EBCB9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6619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1191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DDD8C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teach_surface_1_777b161159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41055"/>
            <a:ext cx="2560320" cy="889891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0" name="TextBox 9"/>
          <p:cNvSpPr txBox="1"/>
          <p:nvPr/>
        </p:nvSpPr>
        <p:spPr>
          <a:xfrm>
            <a:off x="685800" y="288036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728"/>
              </a:lnSpc>
              <a:spcAft>
                <a:spcPts val="0"/>
              </a:spcAft>
            </a:pPr>
            <a:r>
              <a:rPr lang="zh-CN" sz="1350" b="0">
                <a:solidFill>
                  <a:srgbClr val="45525F"/>
                </a:solidFill>
                <a:latin typeface="PingFang SC"/>
                <a:ea typeface="PingFang SC"/>
              </a:rPr>
              <a:t>① 地板和网格</a:t>
            </a:r>
          </a:p>
        </p:txBody>
      </p:sp>
      <p:pic>
        <p:nvPicPr>
          <p:cNvPr id="11" name="Picture 10" descr="teach_surface_2_69ae0315e43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8144" y="1841055"/>
            <a:ext cx="2560320" cy="889891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2" name="TextBox 11"/>
          <p:cNvSpPr txBox="1"/>
          <p:nvPr/>
        </p:nvSpPr>
        <p:spPr>
          <a:xfrm>
            <a:off x="3438144" y="288036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728"/>
              </a:lnSpc>
              <a:spcAft>
                <a:spcPts val="0"/>
              </a:spcAft>
            </a:pPr>
            <a:r>
              <a:rPr lang="zh-CN" sz="1350" b="0">
                <a:solidFill>
                  <a:srgbClr val="45525F"/>
                </a:solidFill>
                <a:latin typeface="PingFang SC"/>
                <a:ea typeface="PingFang SC"/>
              </a:rPr>
              <a:t>② 小格：半透明，从后往前铺</a:t>
            </a:r>
          </a:p>
        </p:txBody>
      </p:sp>
      <p:pic>
        <p:nvPicPr>
          <p:cNvPr id="13" name="Picture 12" descr="teach_surface_3_c532ee65e58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0488" y="1841055"/>
            <a:ext cx="2560320" cy="889891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4" name="TextBox 13"/>
          <p:cNvSpPr txBox="1"/>
          <p:nvPr/>
        </p:nvSpPr>
        <p:spPr>
          <a:xfrm>
            <a:off x="6190488" y="288036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728"/>
              </a:lnSpc>
              <a:spcAft>
                <a:spcPts val="0"/>
              </a:spcAft>
            </a:pPr>
            <a:r>
              <a:rPr lang="zh-CN" sz="1350" b="0">
                <a:solidFill>
                  <a:srgbClr val="45525F"/>
                </a:solidFill>
                <a:latin typeface="PingFang SC"/>
                <a:ea typeface="PingFang SC"/>
              </a:rPr>
              <a:t>③ 加网格线</a:t>
            </a:r>
          </a:p>
        </p:txBody>
      </p:sp>
      <p:pic>
        <p:nvPicPr>
          <p:cNvPr id="15" name="Picture 14" descr="teach_surface_4_7c1712ff580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2832" y="1841055"/>
            <a:ext cx="2560320" cy="889891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6" name="TextBox 15"/>
          <p:cNvSpPr txBox="1"/>
          <p:nvPr/>
        </p:nvSpPr>
        <p:spPr>
          <a:xfrm>
            <a:off x="8942832" y="288036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728"/>
              </a:lnSpc>
              <a:spcAft>
                <a:spcPts val="0"/>
              </a:spcAft>
            </a:pPr>
            <a:r>
              <a:rPr lang="zh-CN" sz="1350" b="0">
                <a:solidFill>
                  <a:srgbClr val="45525F"/>
                </a:solidFill>
                <a:latin typeface="PingFang SC"/>
                <a:ea typeface="PingFang SC"/>
              </a:rPr>
              <a:t>④ 前沿粗线、虚线、采样点</a:t>
            </a:r>
          </a:p>
        </p:txBody>
      </p:sp>
      <p:pic>
        <p:nvPicPr>
          <p:cNvPr id="17" name="Picture 16" descr="code_surfa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495276"/>
            <a:ext cx="6400800" cy="2814084"/>
          </a:xfrm>
          <a:prstGeom prst="rect">
            <a:avLst/>
          </a:prstGeom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8" name="Oval 17"/>
          <p:cNvSpPr/>
          <p:nvPr/>
        </p:nvSpPr>
        <p:spPr>
          <a:xfrm>
            <a:off x="7360920" y="3627120"/>
            <a:ext cx="146304" cy="146304"/>
          </a:xfrm>
          <a:prstGeom prst="ellipse">
            <a:avLst/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53528" y="3566160"/>
            <a:ext cx="3849624" cy="2865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12"/>
              </a:lnSpc>
              <a:spcAft>
                <a:spcPts val="0"/>
              </a:spcAft>
            </a:pPr>
            <a:r>
              <a:rPr lang="zh-CN" sz="1650" b="1">
                <a:solidFill>
                  <a:srgbClr val="1E2B3A"/>
                </a:solidFill>
                <a:latin typeface="PingFang SC"/>
                <a:ea typeface="PingFang SC"/>
              </a:rPr>
              <a:t>高度写成简单函数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53528" y="3889248"/>
            <a:ext cx="3849624" cy="473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92"/>
              </a:lnSpc>
              <a:spcAft>
                <a:spcPts val="0"/>
              </a:spcAft>
            </a:pPr>
            <a:r>
              <a:rPr lang="zh-CN" sz="1400" b="0">
                <a:solidFill>
                  <a:srgbClr val="45525F"/>
                </a:solidFill>
                <a:latin typeface="PingFang SC"/>
                <a:ea typeface="PingFang SC"/>
              </a:rPr>
              <a:t>正弦、高斯就够；示意图上不放具体数值</a:t>
            </a:r>
          </a:p>
        </p:txBody>
      </p:sp>
      <p:sp>
        <p:nvSpPr>
          <p:cNvPr id="21" name="Oval 20"/>
          <p:cNvSpPr/>
          <p:nvPr/>
        </p:nvSpPr>
        <p:spPr>
          <a:xfrm>
            <a:off x="7360920" y="4632960"/>
            <a:ext cx="146304" cy="146304"/>
          </a:xfrm>
          <a:prstGeom prst="ellipse">
            <a:avLst/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53528" y="4572000"/>
            <a:ext cx="3849624" cy="2865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12"/>
              </a:lnSpc>
              <a:spcAft>
                <a:spcPts val="0"/>
              </a:spcAft>
            </a:pPr>
            <a:r>
              <a:rPr lang="zh-CN" sz="1650" b="1">
                <a:solidFill>
                  <a:srgbClr val="1E2B3A"/>
                </a:solidFill>
                <a:latin typeface="PingFang SC"/>
                <a:ea typeface="PingFang SC"/>
              </a:rPr>
              <a:t>从后往前铺半透明小格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53528" y="4895088"/>
            <a:ext cx="3849624" cy="473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92"/>
              </a:lnSpc>
              <a:spcAft>
                <a:spcPts val="0"/>
              </a:spcAft>
            </a:pPr>
            <a:r>
              <a:rPr lang="zh-CN" sz="1400" b="0">
                <a:solidFill>
                  <a:srgbClr val="45525F"/>
                </a:solidFill>
                <a:latin typeface="PingFang SC"/>
                <a:ea typeface="PingFang SC"/>
              </a:rPr>
              <a:t>再描网格线，前沿描一条粗线</a:t>
            </a:r>
          </a:p>
        </p:txBody>
      </p:sp>
      <p:sp>
        <p:nvSpPr>
          <p:cNvPr id="24" name="Oval 23"/>
          <p:cNvSpPr/>
          <p:nvPr/>
        </p:nvSpPr>
        <p:spPr>
          <a:xfrm>
            <a:off x="7360920" y="5638800"/>
            <a:ext cx="146304" cy="146304"/>
          </a:xfrm>
          <a:prstGeom prst="ellipse">
            <a:avLst/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653528" y="5577840"/>
            <a:ext cx="3849624" cy="2865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12"/>
              </a:lnSpc>
              <a:spcAft>
                <a:spcPts val="0"/>
              </a:spcAft>
            </a:pPr>
            <a:r>
              <a:rPr lang="zh-CN" sz="1650" b="1">
                <a:solidFill>
                  <a:srgbClr val="1E2B3A"/>
                </a:solidFill>
                <a:latin typeface="PingFang SC"/>
                <a:ea typeface="PingFang SC"/>
              </a:rPr>
              <a:t>决策曲面多了打光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53528" y="5900928"/>
            <a:ext cx="3849624" cy="473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92"/>
              </a:lnSpc>
              <a:spcAft>
                <a:spcPts val="0"/>
              </a:spcAft>
            </a:pPr>
            <a:r>
              <a:rPr lang="zh-CN" sz="1400" b="0">
                <a:solidFill>
                  <a:srgbClr val="45525F"/>
                </a:solidFill>
                <a:latin typeface="PingFang SC"/>
                <a:ea typeface="PingFang SC"/>
              </a:rPr>
              <a:t>每个小格按法线和光线的夹角调亮度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88752" y="6446520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280"/>
              </a:lnSpc>
              <a:spcAft>
                <a:spcPts val="0"/>
              </a:spcAft>
            </a:pPr>
            <a:r>
              <a:rPr lang="zh-CN" sz="1000" b="0">
                <a:solidFill>
                  <a:srgbClr val="8592A0"/>
                </a:solidFill>
                <a:latin typeface="PingFang SC"/>
                <a:ea typeface="PingFang SC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29768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00"/>
              </a:lnSpc>
              <a:spcAft>
                <a:spcPts val="0"/>
              </a:spcAft>
            </a:pPr>
            <a:r>
              <a:rPr lang="zh-CN" sz="1250" b="1">
                <a:solidFill>
                  <a:srgbClr val="B4700F"/>
                </a:solidFill>
                <a:latin typeface="PingFang SC"/>
                <a:ea typeface="PingFang SC"/>
              </a:rPr>
              <a:t>第 3 步 · 用 Python 画组件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94944"/>
            <a:ext cx="10817352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711"/>
              </a:lnSpc>
              <a:spcAft>
                <a:spcPts val="0"/>
              </a:spcAft>
            </a:pPr>
            <a:r>
              <a:rPr lang="zh-CN" sz="2900" b="1">
                <a:solidFill>
                  <a:srgbClr val="1E2B3A"/>
                </a:solidFill>
                <a:latin typeface="PingFang SC"/>
                <a:ea typeface="PingFang SC"/>
              </a:rPr>
              <a:t>Fig. 1：三个组件，从下往上叠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475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EBCB9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2047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EBCB9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6619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1191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DDD8C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part_fig1_01_floor_1_62eadcbf7f_3a14344f515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4568" y="1692005"/>
            <a:ext cx="3499046" cy="1828772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9" name="Rounded Rectangle 8"/>
          <p:cNvSpPr/>
          <p:nvPr/>
        </p:nvSpPr>
        <p:spPr>
          <a:xfrm>
            <a:off x="1719976" y="1527048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D08A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600"/>
              </a:lnSpc>
              <a:spcAft>
                <a:spcPts val="0"/>
              </a:spcAft>
            </a:pPr>
            <a:r>
              <a:rPr lang="zh-CN" sz="1250" b="1">
                <a:solidFill>
                  <a:srgbClr val="FFFFFF"/>
                </a:solidFill>
                <a:latin typeface="PingFang SC"/>
                <a:ea typeface="PingFang SC"/>
              </a:rPr>
              <a:t>1</a:t>
            </a:r>
          </a:p>
        </p:txBody>
      </p:sp>
      <p:pic>
        <p:nvPicPr>
          <p:cNvPr id="10" name="Picture 9" descr="part_fig1_02_glass_scene_1_b7d78dd39b_54dfd6b456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3831627"/>
            <a:ext cx="2347070" cy="2523863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1" name="Rounded Rectangle 10"/>
          <p:cNvSpPr/>
          <p:nvPr/>
        </p:nvSpPr>
        <p:spPr>
          <a:xfrm>
            <a:off x="685800" y="3667446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D08A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600"/>
              </a:lnSpc>
              <a:spcAft>
                <a:spcPts val="0"/>
              </a:spcAft>
            </a:pPr>
            <a:r>
              <a:rPr lang="zh-CN" sz="1250" b="1">
                <a:solidFill>
                  <a:srgbClr val="FFFFFF"/>
                </a:solidFill>
                <a:latin typeface="PingFang SC"/>
                <a:ea typeface="PingFang SC"/>
              </a:rPr>
              <a:t>2</a:t>
            </a:r>
          </a:p>
        </p:txBody>
      </p:sp>
      <p:pic>
        <p:nvPicPr>
          <p:cNvPr id="12" name="Picture 11" descr="part_fig1_03_upper_level_1_1daa093c5b_f267931dc15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1782" y="3832280"/>
            <a:ext cx="2946008" cy="2522558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3" name="Rounded Rectangle 12"/>
          <p:cNvSpPr/>
          <p:nvPr/>
        </p:nvSpPr>
        <p:spPr>
          <a:xfrm>
            <a:off x="3307190" y="3667446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D08A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600"/>
              </a:lnSpc>
              <a:spcAft>
                <a:spcPts val="0"/>
              </a:spcAft>
            </a:pPr>
            <a:r>
              <a:rPr lang="zh-CN" sz="1250" b="1">
                <a:solidFill>
                  <a:srgbClr val="FFFFFF"/>
                </a:solidFill>
                <a:latin typeface="PingFang SC"/>
                <a:ea typeface="PingFang SC"/>
              </a:rPr>
              <a:t>3</a:t>
            </a:r>
          </a:p>
        </p:txBody>
      </p:sp>
      <p:pic>
        <p:nvPicPr>
          <p:cNvPr id="14" name="Picture 13" descr="part_fig1_04_full_1_e2204110b8_de60cd534b3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0750" y="1690926"/>
            <a:ext cx="4262402" cy="4664868"/>
          </a:xfrm>
          <a:prstGeom prst="rect">
            <a:avLst/>
          </a:prstGeom>
          <a:ln w="19050">
            <a:solidFill>
              <a:srgbClr val="D08A1E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5" name="Chevron 14"/>
          <p:cNvSpPr/>
          <p:nvPr/>
        </p:nvSpPr>
        <p:spPr>
          <a:xfrm>
            <a:off x="6737830" y="3840480"/>
            <a:ext cx="182880" cy="365760"/>
          </a:xfrm>
          <a:prstGeom prst="chevron">
            <a:avLst/>
          </a:prstGeom>
          <a:solidFill>
            <a:srgbClr val="CFC8B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88752" y="6446520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280"/>
              </a:lnSpc>
              <a:spcAft>
                <a:spcPts val="0"/>
              </a:spcAft>
            </a:pPr>
            <a:r>
              <a:rPr lang="zh-CN" sz="1000" b="0">
                <a:solidFill>
                  <a:srgbClr val="8592A0"/>
                </a:solidFill>
                <a:latin typeface="PingFang SC"/>
                <a:ea typeface="PingFang SC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29768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00"/>
              </a:lnSpc>
              <a:spcAft>
                <a:spcPts val="0"/>
              </a:spcAft>
            </a:pPr>
            <a:r>
              <a:rPr lang="zh-CN" sz="1250" b="1">
                <a:solidFill>
                  <a:srgbClr val="B4700F"/>
                </a:solidFill>
                <a:latin typeface="PingFang SC"/>
                <a:ea typeface="PingFang SC"/>
              </a:rPr>
              <a:t>第 3 步 · 用 Python 画组件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94944"/>
            <a:ext cx="10817352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711"/>
              </a:lnSpc>
              <a:spcAft>
                <a:spcPts val="0"/>
              </a:spcAft>
            </a:pPr>
            <a:r>
              <a:rPr lang="zh-CN" sz="2900" b="1" dirty="0">
                <a:solidFill>
                  <a:srgbClr val="1E2B3A"/>
                </a:solidFill>
                <a:latin typeface="PingFang SC"/>
                <a:ea typeface="PingFang SC"/>
              </a:rPr>
              <a:t>玻璃：不是画的，是图像处理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43584"/>
            <a:ext cx="10817352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84"/>
              </a:lnSpc>
              <a:spcAft>
                <a:spcPts val="0"/>
              </a:spcAft>
            </a:pPr>
            <a:r>
              <a:rPr lang="zh-CN" sz="1550" b="0">
                <a:solidFill>
                  <a:srgbClr val="45525F"/>
                </a:solidFill>
                <a:latin typeface="PingFang SC"/>
                <a:ea typeface="PingFang SC"/>
              </a:rPr>
              <a:t>Fig. 1 的 2 号组件：先把后面的东西画成图片，再一步步处理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475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EBCB9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2047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EBCB9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6619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1191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DDD8C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teach_glass_1_left_a27f052c_855d0e7c49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98057"/>
            <a:ext cx="1947672" cy="1177054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0" name="TextBox 9"/>
          <p:cNvSpPr txBox="1"/>
          <p:nvPr/>
        </p:nvSpPr>
        <p:spPr>
          <a:xfrm>
            <a:off x="685800" y="3081528"/>
            <a:ext cx="194767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728"/>
              </a:lnSpc>
              <a:spcAft>
                <a:spcPts val="0"/>
              </a:spcAft>
            </a:pPr>
            <a:r>
              <a:rPr lang="zh-CN" sz="1350" b="0">
                <a:solidFill>
                  <a:srgbClr val="45525F"/>
                </a:solidFill>
                <a:latin typeface="PingFang SC"/>
                <a:ea typeface="PingFang SC"/>
              </a:rPr>
              <a:t>① 后面的景物</a:t>
            </a:r>
          </a:p>
        </p:txBody>
      </p:sp>
      <p:pic>
        <p:nvPicPr>
          <p:cNvPr id="11" name="Picture 10" descr="teach_glass_2_left_a27f052c_3e0bf4867a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3220" y="1798057"/>
            <a:ext cx="1947672" cy="1177054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2" name="TextBox 11"/>
          <p:cNvSpPr txBox="1"/>
          <p:nvPr/>
        </p:nvSpPr>
        <p:spPr>
          <a:xfrm>
            <a:off x="2903220" y="3081528"/>
            <a:ext cx="194767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728"/>
              </a:lnSpc>
              <a:spcAft>
                <a:spcPts val="0"/>
              </a:spcAft>
            </a:pPr>
            <a:r>
              <a:rPr lang="zh-CN" sz="1350" b="0">
                <a:solidFill>
                  <a:srgbClr val="45525F"/>
                </a:solidFill>
                <a:latin typeface="PingFang SC"/>
                <a:ea typeface="PingFang SC"/>
              </a:rPr>
              <a:t>② 模糊：磨砂</a:t>
            </a:r>
          </a:p>
        </p:txBody>
      </p:sp>
      <p:pic>
        <p:nvPicPr>
          <p:cNvPr id="13" name="Picture 12" descr="teach_glass_3_left_a27f052c_996d2a547c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1798057"/>
            <a:ext cx="1947672" cy="1177054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4" name="TextBox 13"/>
          <p:cNvSpPr txBox="1"/>
          <p:nvPr/>
        </p:nvSpPr>
        <p:spPr>
          <a:xfrm>
            <a:off x="5120640" y="3081528"/>
            <a:ext cx="194767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728"/>
              </a:lnSpc>
              <a:spcAft>
                <a:spcPts val="0"/>
              </a:spcAft>
            </a:pPr>
            <a:r>
              <a:rPr lang="zh-CN" sz="1350" b="0">
                <a:solidFill>
                  <a:srgbClr val="45525F"/>
                </a:solidFill>
                <a:latin typeface="PingFang SC"/>
                <a:ea typeface="PingFang SC"/>
              </a:rPr>
              <a:t>③ 边缘折射</a:t>
            </a:r>
          </a:p>
        </p:txBody>
      </p:sp>
      <p:pic>
        <p:nvPicPr>
          <p:cNvPr id="15" name="Picture 14" descr="teach_glass_4_left_a27f052c_355ea5c3713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8060" y="1798057"/>
            <a:ext cx="1947672" cy="1177054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6" name="TextBox 15"/>
          <p:cNvSpPr txBox="1"/>
          <p:nvPr/>
        </p:nvSpPr>
        <p:spPr>
          <a:xfrm>
            <a:off x="7338060" y="3081528"/>
            <a:ext cx="194767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728"/>
              </a:lnSpc>
              <a:spcAft>
                <a:spcPts val="0"/>
              </a:spcAft>
            </a:pPr>
            <a:r>
              <a:rPr lang="zh-CN" sz="1350" b="0">
                <a:solidFill>
                  <a:srgbClr val="45525F"/>
                </a:solidFill>
                <a:latin typeface="PingFang SC"/>
                <a:ea typeface="PingFang SC"/>
              </a:rPr>
              <a:t>④ 提亮、染色</a:t>
            </a:r>
          </a:p>
        </p:txBody>
      </p:sp>
      <p:pic>
        <p:nvPicPr>
          <p:cNvPr id="17" name="Picture 16" descr="teach_glass_5_left_a27f052c_8d90441d81f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5480" y="1798057"/>
            <a:ext cx="1947672" cy="1177054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8" name="TextBox 17"/>
          <p:cNvSpPr txBox="1"/>
          <p:nvPr/>
        </p:nvSpPr>
        <p:spPr>
          <a:xfrm>
            <a:off x="9555480" y="3081528"/>
            <a:ext cx="194767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728"/>
              </a:lnSpc>
              <a:spcAft>
                <a:spcPts val="0"/>
              </a:spcAft>
            </a:pPr>
            <a:r>
              <a:rPr lang="zh-CN" sz="1350" b="0">
                <a:solidFill>
                  <a:srgbClr val="45525F"/>
                </a:solidFill>
                <a:latin typeface="PingFang SC"/>
                <a:ea typeface="PingFang SC"/>
              </a:rPr>
              <a:t>⑤ 高光和细线</a:t>
            </a:r>
          </a:p>
        </p:txBody>
      </p:sp>
      <p:pic>
        <p:nvPicPr>
          <p:cNvPr id="19" name="Picture 18" descr="code_glas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3566160"/>
            <a:ext cx="6671171" cy="2743200"/>
          </a:xfrm>
          <a:prstGeom prst="rect">
            <a:avLst/>
          </a:prstGeom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20" name="Oval 19"/>
          <p:cNvSpPr/>
          <p:nvPr/>
        </p:nvSpPr>
        <p:spPr>
          <a:xfrm>
            <a:off x="7909560" y="3764280"/>
            <a:ext cx="146304" cy="146304"/>
          </a:xfrm>
          <a:prstGeom prst="ellipse">
            <a:avLst/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02168" y="3703320"/>
            <a:ext cx="3300984" cy="2865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12"/>
              </a:lnSpc>
              <a:spcAft>
                <a:spcPts val="0"/>
              </a:spcAft>
            </a:pPr>
            <a:r>
              <a:rPr lang="zh-CN" sz="1650" b="1">
                <a:solidFill>
                  <a:srgbClr val="1E2B3A"/>
                </a:solidFill>
                <a:latin typeface="PingFang SC"/>
                <a:ea typeface="PingFang SC"/>
              </a:rPr>
              <a:t>七片从后往前叠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2168" y="4026408"/>
            <a:ext cx="3300984" cy="701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92"/>
              </a:lnSpc>
              <a:spcAft>
                <a:spcPts val="0"/>
              </a:spcAft>
            </a:pPr>
            <a:r>
              <a:rPr lang="zh-CN" sz="1400" b="0">
                <a:solidFill>
                  <a:srgbClr val="45525F"/>
                </a:solidFill>
                <a:latin typeface="PingFang SC"/>
                <a:ea typeface="PingFang SC"/>
              </a:rPr>
              <a:t>每叠一片，都把当前画面当作“背景”，</a:t>
            </a:r>
          </a:p>
          <a:p>
            <a:pPr algn="l">
              <a:lnSpc>
                <a:spcPts val="1792"/>
              </a:lnSpc>
              <a:spcAft>
                <a:spcPts val="0"/>
              </a:spcAft>
            </a:pPr>
            <a:r>
              <a:rPr lang="zh-CN" sz="1400" b="0">
                <a:solidFill>
                  <a:srgbClr val="45525F"/>
                </a:solidFill>
                <a:latin typeface="PingFang SC"/>
                <a:ea typeface="PingFang SC"/>
              </a:rPr>
              <a:t>所以能透出后面的玻璃</a:t>
            </a:r>
          </a:p>
        </p:txBody>
      </p:sp>
      <p:sp>
        <p:nvSpPr>
          <p:cNvPr id="23" name="Oval 22"/>
          <p:cNvSpPr/>
          <p:nvPr/>
        </p:nvSpPr>
        <p:spPr>
          <a:xfrm>
            <a:off x="7909560" y="5135880"/>
            <a:ext cx="146304" cy="146304"/>
          </a:xfrm>
          <a:prstGeom prst="ellipse">
            <a:avLst/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02168" y="5074920"/>
            <a:ext cx="3300984" cy="2865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12"/>
              </a:lnSpc>
              <a:spcAft>
                <a:spcPts val="0"/>
              </a:spcAft>
            </a:pPr>
            <a:r>
              <a:rPr lang="zh-CN" sz="1650" b="1">
                <a:solidFill>
                  <a:srgbClr val="1E2B3A"/>
                </a:solidFill>
                <a:latin typeface="PingFang SC"/>
                <a:ea typeface="PingFang SC"/>
              </a:rPr>
              <a:t>唯一用到图片的地方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2168" y="5398008"/>
            <a:ext cx="3300984" cy="473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92"/>
              </a:lnSpc>
              <a:spcAft>
                <a:spcPts val="0"/>
              </a:spcAft>
            </a:pPr>
            <a:r>
              <a:rPr lang="zh-CN" sz="1400" b="0">
                <a:solidFill>
                  <a:srgbClr val="45525F"/>
                </a:solidFill>
                <a:latin typeface="PingFang SC"/>
                <a:ea typeface="PingFang SC"/>
              </a:rPr>
              <a:t>600 dpi；图里其余部分都是矢量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88752" y="6446520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280"/>
              </a:lnSpc>
              <a:spcAft>
                <a:spcPts val="0"/>
              </a:spcAft>
            </a:pPr>
            <a:r>
              <a:rPr lang="zh-CN" sz="1000" b="0">
                <a:solidFill>
                  <a:srgbClr val="8592A0"/>
                </a:solidFill>
                <a:latin typeface="PingFang SC"/>
                <a:ea typeface="PingFang SC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29768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00"/>
              </a:lnSpc>
              <a:spcAft>
                <a:spcPts val="0"/>
              </a:spcAft>
            </a:pPr>
            <a:r>
              <a:rPr lang="zh-CN" sz="1250" b="1">
                <a:solidFill>
                  <a:srgbClr val="B4700F"/>
                </a:solidFill>
                <a:latin typeface="PingFang SC"/>
                <a:ea typeface="PingFang SC"/>
              </a:rPr>
              <a:t>第 3 步 · 用 Python 画组件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94944"/>
            <a:ext cx="10817352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711"/>
              </a:lnSpc>
              <a:spcAft>
                <a:spcPts val="0"/>
              </a:spcAft>
            </a:pPr>
            <a:r>
              <a:rPr lang="zh-CN" sz="2900" b="1">
                <a:solidFill>
                  <a:srgbClr val="1E2B3A"/>
                </a:solidFill>
                <a:latin typeface="PingFang SC"/>
                <a:ea typeface="PingFang SC"/>
              </a:rPr>
              <a:t>Fig. 2：地形是 58,081 根小柱子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475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EBCB9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2047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EBCB9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6619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1191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DDD8C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part_fig2_01_game_1_f62914a9ba_5351cc0ce3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121" y="1692355"/>
            <a:ext cx="4025602" cy="734466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9" name="Rounded Rectangle 8"/>
          <p:cNvSpPr/>
          <p:nvPr/>
        </p:nvSpPr>
        <p:spPr>
          <a:xfrm>
            <a:off x="878529" y="1527048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D08A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600"/>
              </a:lnSpc>
              <a:spcAft>
                <a:spcPts val="0"/>
              </a:spcAft>
            </a:pPr>
            <a:r>
              <a:rPr lang="zh-CN" sz="1250" b="1">
                <a:solidFill>
                  <a:srgbClr val="FFFFFF"/>
                </a:solidFill>
                <a:latin typeface="PingFang SC"/>
                <a:ea typeface="PingFang SC"/>
              </a:rPr>
              <a:t>1</a:t>
            </a:r>
          </a:p>
        </p:txBody>
      </p:sp>
      <p:pic>
        <p:nvPicPr>
          <p:cNvPr id="10" name="Picture 9" descr="part_fig2_02_legend_1_61cc822895_f6febd993f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121" y="2737734"/>
            <a:ext cx="4025602" cy="728371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1" name="Rounded Rectangle 10"/>
          <p:cNvSpPr/>
          <p:nvPr/>
        </p:nvSpPr>
        <p:spPr>
          <a:xfrm>
            <a:off x="878529" y="2573839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D08A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600"/>
              </a:lnSpc>
              <a:spcAft>
                <a:spcPts val="0"/>
              </a:spcAft>
            </a:pPr>
            <a:r>
              <a:rPr lang="zh-CN" sz="1250" b="1">
                <a:solidFill>
                  <a:srgbClr val="FFFFFF"/>
                </a:solidFill>
                <a:latin typeface="PingFang SC"/>
                <a:ea typeface="PingFang SC"/>
              </a:rPr>
              <a:t>2</a:t>
            </a:r>
          </a:p>
        </p:txBody>
      </p:sp>
      <p:pic>
        <p:nvPicPr>
          <p:cNvPr id="12" name="Picture 11" descr="part_fig2_03_terrain_1_e8d8d02f5c_aee197702b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121" y="3776637"/>
            <a:ext cx="4025602" cy="2578111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3" name="Rounded Rectangle 12"/>
          <p:cNvSpPr/>
          <p:nvPr/>
        </p:nvSpPr>
        <p:spPr>
          <a:xfrm>
            <a:off x="878529" y="3611713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D08A1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ts val="1600"/>
              </a:lnSpc>
              <a:spcAft>
                <a:spcPts val="0"/>
              </a:spcAft>
            </a:pPr>
            <a:r>
              <a:rPr lang="zh-CN" sz="1250" b="1">
                <a:solidFill>
                  <a:srgbClr val="FFFFFF"/>
                </a:solidFill>
                <a:latin typeface="PingFang SC"/>
                <a:ea typeface="PingFang SC"/>
              </a:rPr>
              <a:t>3</a:t>
            </a:r>
          </a:p>
        </p:txBody>
      </p:sp>
      <p:pic>
        <p:nvPicPr>
          <p:cNvPr id="14" name="Picture 13" descr="part_fig2_04_full_1_9c8c7d3d03_d7e240b3d8b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9004" y="1691906"/>
            <a:ext cx="5254148" cy="4662908"/>
          </a:xfrm>
          <a:prstGeom prst="rect">
            <a:avLst/>
          </a:prstGeom>
          <a:ln w="19050">
            <a:solidFill>
              <a:srgbClr val="D08A1E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5" name="Chevron 14"/>
          <p:cNvSpPr/>
          <p:nvPr/>
        </p:nvSpPr>
        <p:spPr>
          <a:xfrm>
            <a:off x="5567423" y="3840480"/>
            <a:ext cx="182880" cy="365760"/>
          </a:xfrm>
          <a:prstGeom prst="chevron">
            <a:avLst/>
          </a:prstGeom>
          <a:solidFill>
            <a:srgbClr val="CFC8B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88752" y="6446520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280"/>
              </a:lnSpc>
              <a:spcAft>
                <a:spcPts val="0"/>
              </a:spcAft>
            </a:pPr>
            <a:r>
              <a:rPr lang="zh-CN" sz="1000" b="0">
                <a:solidFill>
                  <a:srgbClr val="8592A0"/>
                </a:solidFill>
                <a:latin typeface="PingFang SC"/>
                <a:ea typeface="PingFang SC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1298448"/>
            <a:ext cx="411480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264"/>
              </a:lnSpc>
              <a:spcAft>
                <a:spcPts val="0"/>
              </a:spcAft>
            </a:pPr>
            <a:r>
              <a:rPr lang="zh-CN" sz="8800" b="1">
                <a:solidFill>
                  <a:srgbClr val="D08A1E"/>
                </a:solidFill>
                <a:latin typeface="PingFang SC"/>
                <a:ea typeface="PingFang SC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788920"/>
            <a:ext cx="461772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608"/>
              </a:lnSpc>
              <a:spcAft>
                <a:spcPts val="0"/>
              </a:spcAft>
            </a:pPr>
            <a:r>
              <a:rPr lang="zh-CN" sz="3600" b="1">
                <a:solidFill>
                  <a:srgbClr val="1E2B3A"/>
                </a:solidFill>
                <a:latin typeface="PingFang SC"/>
                <a:ea typeface="PingFang SC"/>
              </a:rPr>
              <a:t>用 python-pptx 组合</a:t>
            </a:r>
          </a:p>
        </p:txBody>
      </p:sp>
      <p:sp>
        <p:nvSpPr>
          <p:cNvPr id="4" name="Rectangle 3"/>
          <p:cNvSpPr/>
          <p:nvPr/>
        </p:nvSpPr>
        <p:spPr>
          <a:xfrm>
            <a:off x="804672" y="3639312"/>
            <a:ext cx="548640" cy="45720"/>
          </a:xfrm>
          <a:prstGeom prst="rect">
            <a:avLst/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3886200"/>
            <a:ext cx="429768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76"/>
              </a:lnSpc>
              <a:spcAft>
                <a:spcPts val="0"/>
              </a:spcAft>
            </a:pPr>
            <a:r>
              <a:rPr lang="zh-CN" sz="1700" b="0">
                <a:solidFill>
                  <a:srgbClr val="45525F"/>
                </a:solidFill>
                <a:latin typeface="PingFang SC"/>
                <a:ea typeface="PingFang SC"/>
              </a:rPr>
              <a:t>把组件放回论文尺寸的 PPT 里，</a:t>
            </a:r>
          </a:p>
          <a:p>
            <a:pPr algn="l">
              <a:lnSpc>
                <a:spcPts val="2176"/>
              </a:lnSpc>
              <a:spcAft>
                <a:spcPts val="0"/>
              </a:spcAft>
            </a:pPr>
            <a:r>
              <a:rPr lang="zh-CN" sz="1700" b="0">
                <a:solidFill>
                  <a:srgbClr val="45525F"/>
                </a:solidFill>
                <a:latin typeface="PingFang SC"/>
                <a:ea typeface="PingFang SC"/>
              </a:rPr>
              <a:t>框、字、箭头用 PPT 自己画，还能接着改</a:t>
            </a:r>
          </a:p>
        </p:txBody>
      </p:sp>
      <p:pic>
        <p:nvPicPr>
          <p:cNvPr id="6" name="Picture 5" descr="fig3_hd_ff704333300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519428"/>
            <a:ext cx="6172200" cy="3819144"/>
          </a:xfrm>
          <a:prstGeom prst="rect">
            <a:avLst/>
          </a:prstGeom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29768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00"/>
              </a:lnSpc>
              <a:spcAft>
                <a:spcPts val="0"/>
              </a:spcAft>
            </a:pPr>
            <a:r>
              <a:rPr lang="zh-CN" sz="1250" b="1">
                <a:solidFill>
                  <a:srgbClr val="B4700F"/>
                </a:solidFill>
                <a:latin typeface="PingFang SC"/>
                <a:ea typeface="PingFang SC"/>
              </a:rPr>
              <a:t>第 4 步 · 用 python-pptx 组合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94944"/>
            <a:ext cx="10817352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711"/>
              </a:lnSpc>
              <a:spcAft>
                <a:spcPts val="0"/>
              </a:spcAft>
            </a:pPr>
            <a:r>
              <a:rPr lang="zh-CN" sz="2900" b="1">
                <a:solidFill>
                  <a:srgbClr val="1E2B3A"/>
                </a:solidFill>
                <a:latin typeface="PingFang SC"/>
                <a:ea typeface="PingFang SC"/>
              </a:rPr>
              <a:t>PPT 的页面，就是论文里的那张图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475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EBCB9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2047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EBCB9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6619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EBCB9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1191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fig3_layer_native_8a7a769ba1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40636"/>
            <a:ext cx="3246120" cy="2045208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9" name="TextBox 8"/>
          <p:cNvSpPr txBox="1"/>
          <p:nvPr/>
        </p:nvSpPr>
        <p:spPr>
          <a:xfrm>
            <a:off x="685800" y="4287012"/>
            <a:ext cx="32461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2112"/>
              </a:lnSpc>
              <a:spcAft>
                <a:spcPts val="0"/>
              </a:spcAft>
            </a:pPr>
            <a:r>
              <a:rPr lang="zh-CN" sz="1650" b="1">
                <a:solidFill>
                  <a:srgbClr val="1E2B3A"/>
                </a:solidFill>
                <a:latin typeface="PingFang SC"/>
                <a:ea typeface="PingFang SC"/>
              </a:rPr>
              <a:t>PPT 原生形状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634484"/>
            <a:ext cx="324612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728"/>
              </a:lnSpc>
              <a:spcAft>
                <a:spcPts val="0"/>
              </a:spcAft>
            </a:pPr>
            <a:r>
              <a:rPr lang="zh-CN" sz="1350" b="0">
                <a:solidFill>
                  <a:srgbClr val="8592A0"/>
                </a:solidFill>
                <a:latin typeface="PingFang SC"/>
                <a:ea typeface="PingFang SC"/>
              </a:rPr>
              <a:t>框、标题、箭头、编号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788920"/>
            <a:ext cx="539496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3840"/>
              </a:lnSpc>
              <a:spcAft>
                <a:spcPts val="0"/>
              </a:spcAft>
            </a:pPr>
            <a:r>
              <a:rPr lang="zh-CN" sz="3000" b="1">
                <a:solidFill>
                  <a:srgbClr val="D08A1E"/>
                </a:solidFill>
                <a:latin typeface="PingFang SC"/>
                <a:ea typeface="PingFang SC"/>
              </a:rPr>
              <a:t>+</a:t>
            </a:r>
          </a:p>
        </p:txBody>
      </p:sp>
      <p:pic>
        <p:nvPicPr>
          <p:cNvPr id="12" name="Picture 11" descr="fig3_layer_parts_659fcf6611a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416" y="2040636"/>
            <a:ext cx="3246120" cy="2045208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3" name="TextBox 12"/>
          <p:cNvSpPr txBox="1"/>
          <p:nvPr/>
        </p:nvSpPr>
        <p:spPr>
          <a:xfrm>
            <a:off x="4471416" y="4287012"/>
            <a:ext cx="32461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2112"/>
              </a:lnSpc>
              <a:spcAft>
                <a:spcPts val="0"/>
              </a:spcAft>
            </a:pPr>
            <a:r>
              <a:rPr lang="zh-CN" sz="1650" b="1">
                <a:solidFill>
                  <a:srgbClr val="1E2B3A"/>
                </a:solidFill>
                <a:latin typeface="PingFang SC"/>
                <a:ea typeface="PingFang SC"/>
              </a:rPr>
              <a:t>Python 画的组件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1416" y="4634484"/>
            <a:ext cx="324612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728"/>
              </a:lnSpc>
              <a:spcAft>
                <a:spcPts val="0"/>
              </a:spcAft>
            </a:pPr>
            <a:r>
              <a:rPr lang="zh-CN" sz="1350" b="0">
                <a:solidFill>
                  <a:srgbClr val="8592A0"/>
                </a:solidFill>
                <a:latin typeface="PingFang SC"/>
                <a:ea typeface="PingFang SC"/>
              </a:rPr>
              <a:t>转成 PPT 自己的矢量形状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7536" y="2788920"/>
            <a:ext cx="539496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3840"/>
              </a:lnSpc>
              <a:spcAft>
                <a:spcPts val="0"/>
              </a:spcAft>
            </a:pPr>
            <a:r>
              <a:rPr lang="zh-CN" sz="3000" b="1">
                <a:solidFill>
                  <a:srgbClr val="D08A1E"/>
                </a:solidFill>
                <a:latin typeface="PingFang SC"/>
                <a:ea typeface="PingFang SC"/>
              </a:rPr>
              <a:t>=</a:t>
            </a:r>
          </a:p>
        </p:txBody>
      </p:sp>
      <p:pic>
        <p:nvPicPr>
          <p:cNvPr id="16" name="Picture 15" descr="fig3_hd_2759ce18f36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7032" y="2042160"/>
            <a:ext cx="3246120" cy="2042160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sp>
        <p:nvSpPr>
          <p:cNvPr id="17" name="TextBox 16"/>
          <p:cNvSpPr txBox="1"/>
          <p:nvPr/>
        </p:nvSpPr>
        <p:spPr>
          <a:xfrm>
            <a:off x="8257032" y="4285488"/>
            <a:ext cx="32461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2112"/>
              </a:lnSpc>
              <a:spcAft>
                <a:spcPts val="0"/>
              </a:spcAft>
            </a:pPr>
            <a:r>
              <a:rPr lang="zh-CN" sz="1650" b="1">
                <a:solidFill>
                  <a:srgbClr val="1E2B3A"/>
                </a:solidFill>
                <a:latin typeface="PingFang SC"/>
                <a:ea typeface="PingFang SC"/>
              </a:rPr>
              <a:t>论文里的 Fig.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2" y="4632960"/>
            <a:ext cx="324612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728"/>
              </a:lnSpc>
              <a:spcAft>
                <a:spcPts val="0"/>
              </a:spcAft>
            </a:pPr>
            <a:r>
              <a:rPr lang="zh-CN" sz="1350" b="0">
                <a:solidFill>
                  <a:srgbClr val="8592A0"/>
                </a:solidFill>
                <a:latin typeface="PingFang SC"/>
                <a:ea typeface="PingFang SC"/>
              </a:rPr>
              <a:t>从 PowerPoint 导出 PDF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88752" y="6446520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280"/>
              </a:lnSpc>
              <a:spcAft>
                <a:spcPts val="0"/>
              </a:spcAft>
            </a:pPr>
            <a:r>
              <a:rPr lang="zh-CN" sz="1000" b="0">
                <a:solidFill>
                  <a:srgbClr val="8592A0"/>
                </a:solidFill>
                <a:latin typeface="PingFang SC"/>
                <a:ea typeface="PingFang SC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29768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00"/>
              </a:lnSpc>
              <a:spcAft>
                <a:spcPts val="0"/>
              </a:spcAft>
            </a:pPr>
            <a:r>
              <a:rPr lang="zh-CN" sz="1250" b="1">
                <a:solidFill>
                  <a:srgbClr val="B4700F"/>
                </a:solidFill>
                <a:latin typeface="PingFang SC"/>
                <a:ea typeface="PingFang SC"/>
              </a:rPr>
              <a:t>第 4 步 · 用 python-pptx 组合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94944"/>
            <a:ext cx="10817352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711"/>
              </a:lnSpc>
              <a:spcAft>
                <a:spcPts val="0"/>
              </a:spcAft>
            </a:pPr>
            <a:r>
              <a:rPr lang="zh-CN" sz="2900" b="1">
                <a:solidFill>
                  <a:srgbClr val="1E2B3A"/>
                </a:solidFill>
                <a:latin typeface="PingFang SC"/>
                <a:ea typeface="PingFang SC"/>
              </a:rPr>
              <a:t>python-pptx：几行代码放一个框、一行字、一个组件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475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EBCB9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2047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EBCB9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6619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EBCB9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119104" y="534924"/>
            <a:ext cx="384048" cy="64008"/>
          </a:xfrm>
          <a:prstGeom prst="roundRect">
            <a:avLst>
              <a:gd name="adj" fmla="val 50000"/>
            </a:avLst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ode_ppt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63040"/>
            <a:ext cx="5335367" cy="4343400"/>
          </a:xfrm>
          <a:prstGeom prst="rect">
            <a:avLst/>
          </a:prstGeom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pic>
        <p:nvPicPr>
          <p:cNvPr id="9" name="Picture 8" descr="fig3_box5_c0017912eab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417320"/>
            <a:ext cx="2852661" cy="4709160"/>
          </a:xfrm>
          <a:prstGeom prst="rect">
            <a:avLst/>
          </a:prstGeom>
          <a:ln w="9525">
            <a:solidFill>
              <a:srgbClr val="E2DED7"/>
            </a:solidFill>
          </a:ln>
          <a:effectLst>
            <a:outerShdw blurRad="128016" dist="36576" dir="5400000" algn="t" rotWithShape="0">
              <a:srgbClr val="1C2B3A">
                <a:alpha val="20000"/>
              </a:srgbClr>
            </a:outerShdw>
          </a:effectLst>
        </p:spPr>
      </p:pic>
      <p:cxnSp>
        <p:nvCxnSpPr>
          <p:cNvPr id="10" name="Connector 9"/>
          <p:cNvCxnSpPr/>
          <p:nvPr/>
        </p:nvCxnSpPr>
        <p:spPr>
          <a:xfrm flipV="1">
            <a:off x="9566910" y="2670048"/>
            <a:ext cx="537210" cy="900684"/>
          </a:xfrm>
          <a:prstGeom prst="line">
            <a:avLst/>
          </a:prstGeom>
          <a:ln w="12700">
            <a:solidFill>
              <a:srgbClr val="D08A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9521190" y="3525012"/>
            <a:ext cx="91440" cy="91440"/>
          </a:xfrm>
          <a:prstGeom prst="ellipse">
            <a:avLst/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168128" y="2514600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</a:pPr>
            <a:r>
              <a:rPr lang="zh-CN" sz="1500" b="1">
                <a:solidFill>
                  <a:srgbClr val="B4700F"/>
                </a:solidFill>
                <a:latin typeface="PingFang SC"/>
                <a:ea typeface="PingFang SC"/>
              </a:rPr>
              <a:t>④ 组件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8586216" y="3401568"/>
            <a:ext cx="1517904" cy="702259"/>
          </a:xfrm>
          <a:prstGeom prst="line">
            <a:avLst/>
          </a:prstGeom>
          <a:ln w="12700">
            <a:solidFill>
              <a:srgbClr val="D08A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8540496" y="4058107"/>
            <a:ext cx="91440" cy="91440"/>
          </a:xfrm>
          <a:prstGeom prst="ellipse">
            <a:avLst/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168128" y="3246120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</a:pPr>
            <a:r>
              <a:rPr lang="zh-CN" sz="1500" b="1">
                <a:solidFill>
                  <a:srgbClr val="B4700F"/>
                </a:solidFill>
                <a:latin typeface="PingFang SC"/>
                <a:ea typeface="PingFang SC"/>
              </a:rPr>
              <a:t>③ 连线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9089136" y="4133088"/>
            <a:ext cx="1014984" cy="171907"/>
          </a:xfrm>
          <a:prstGeom prst="line">
            <a:avLst/>
          </a:prstGeom>
          <a:ln w="12700">
            <a:solidFill>
              <a:srgbClr val="D08A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9043416" y="4259275"/>
            <a:ext cx="91440" cy="91440"/>
          </a:xfrm>
          <a:prstGeom prst="ellipse">
            <a:avLst/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168128" y="3977640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</a:pPr>
            <a:r>
              <a:rPr lang="zh-CN" sz="1500" b="1">
                <a:solidFill>
                  <a:srgbClr val="B4700F"/>
                </a:solidFill>
                <a:latin typeface="PingFang SC"/>
                <a:ea typeface="PingFang SC"/>
              </a:rPr>
              <a:t>② 一行字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541764" y="4501134"/>
            <a:ext cx="562356" cy="363474"/>
          </a:xfrm>
          <a:prstGeom prst="line">
            <a:avLst/>
          </a:prstGeom>
          <a:ln w="12700">
            <a:solidFill>
              <a:srgbClr val="D08A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9496044" y="4455414"/>
            <a:ext cx="91440" cy="91440"/>
          </a:xfrm>
          <a:prstGeom prst="ellipse">
            <a:avLst/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168128" y="4709160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</a:pPr>
            <a:r>
              <a:rPr lang="zh-CN" sz="1500" b="1">
                <a:solidFill>
                  <a:srgbClr val="B4700F"/>
                </a:solidFill>
                <a:latin typeface="PingFang SC"/>
                <a:ea typeface="PingFang SC"/>
              </a:rPr>
              <a:t>① 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88752" y="6446520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280"/>
              </a:lnSpc>
              <a:spcAft>
                <a:spcPts val="0"/>
              </a:spcAft>
            </a:pPr>
            <a:r>
              <a:rPr lang="zh-CN" sz="1000" b="0">
                <a:solidFill>
                  <a:srgbClr val="8592A0"/>
                </a:solidFill>
                <a:latin typeface="PingFang SC"/>
                <a:ea typeface="PingFang SC"/>
              </a:rP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1536192"/>
            <a:ext cx="10607040" cy="1325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096"/>
              </a:lnSpc>
              <a:spcAft>
                <a:spcPts val="0"/>
              </a:spcAft>
            </a:pPr>
            <a:r>
              <a:rPr lang="zh-CN" sz="3200" b="1">
                <a:solidFill>
                  <a:srgbClr val="1E2B3A"/>
                </a:solidFill>
                <a:latin typeface="PingFang SC"/>
                <a:ea typeface="PingFang SC"/>
              </a:rPr>
              <a:t>AI 负责</a:t>
            </a:r>
            <a:r>
              <a:rPr lang="zh-CN" sz="3200" b="1">
                <a:solidFill>
                  <a:srgbClr val="B4700F"/>
                </a:solidFill>
                <a:latin typeface="PingFang SC"/>
                <a:ea typeface="PingFang SC"/>
              </a:rPr>
              <a:t>出图、写代码</a:t>
            </a:r>
            <a:r>
              <a:rPr lang="zh-CN" sz="3200" b="1">
                <a:solidFill>
                  <a:srgbClr val="1E2B3A"/>
                </a:solidFill>
                <a:latin typeface="PingFang SC"/>
                <a:ea typeface="PingFang SC"/>
              </a:rPr>
              <a:t>；</a:t>
            </a:r>
          </a:p>
          <a:p>
            <a:pPr algn="l">
              <a:lnSpc>
                <a:spcPts val="4096"/>
              </a:lnSpc>
              <a:spcAft>
                <a:spcPts val="0"/>
              </a:spcAft>
            </a:pPr>
            <a:r>
              <a:rPr lang="zh-CN" sz="3200" b="1">
                <a:solidFill>
                  <a:srgbClr val="1E2B3A"/>
                </a:solidFill>
                <a:latin typeface="PingFang SC"/>
                <a:ea typeface="PingFang SC"/>
              </a:rPr>
              <a:t>你负责</a:t>
            </a:r>
            <a:r>
              <a:rPr lang="zh-CN" sz="3200" b="1">
                <a:solidFill>
                  <a:srgbClr val="B4700F"/>
                </a:solidFill>
                <a:latin typeface="PingFang SC"/>
                <a:ea typeface="PingFang SC"/>
              </a:rPr>
              <a:t>挑选和提要求</a:t>
            </a:r>
          </a:p>
        </p:txBody>
      </p:sp>
      <p:sp>
        <p:nvSpPr>
          <p:cNvPr id="3" name="Rectangle 2"/>
          <p:cNvSpPr/>
          <p:nvPr/>
        </p:nvSpPr>
        <p:spPr>
          <a:xfrm>
            <a:off x="804672" y="3108960"/>
            <a:ext cx="548640" cy="45720"/>
          </a:xfrm>
          <a:prstGeom prst="rect">
            <a:avLst/>
          </a:prstGeom>
          <a:solidFill>
            <a:srgbClr val="D08A1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77240" y="3520440"/>
            <a:ext cx="2560320" cy="868680"/>
          </a:xfrm>
          <a:prstGeom prst="roundRect">
            <a:avLst>
              <a:gd name="adj" fmla="val 12631"/>
            </a:avLst>
          </a:prstGeom>
          <a:solidFill>
            <a:srgbClr val="FFFFFF"/>
          </a:solidFill>
          <a:ln w="6350">
            <a:solidFill>
              <a:srgbClr val="E2DED7"/>
            </a:solidFill>
          </a:ln>
          <a:effectLst>
            <a:outerShdw blurRad="100584" dist="27432" dir="5400000" algn="t" rotWithShape="0">
              <a:srgbClr val="1C2B3A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3520440"/>
            <a:ext cx="548640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2816"/>
              </a:lnSpc>
              <a:spcAft>
                <a:spcPts val="0"/>
              </a:spcAft>
            </a:pPr>
            <a:r>
              <a:rPr lang="zh-CN" sz="2200" b="1">
                <a:solidFill>
                  <a:srgbClr val="D08A1E"/>
                </a:solidFill>
                <a:latin typeface="PingFang SC"/>
                <a:ea typeface="PingFang SC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53896" y="3520440"/>
            <a:ext cx="1828800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728"/>
              </a:lnSpc>
              <a:spcAft>
                <a:spcPts val="0"/>
              </a:spcAft>
            </a:pPr>
            <a:r>
              <a:rPr lang="zh-CN" sz="1350" b="1">
                <a:solidFill>
                  <a:srgbClr val="1E2B3A"/>
                </a:solidFill>
                <a:latin typeface="PingFang SC"/>
                <a:ea typeface="PingFang SC"/>
              </a:rPr>
              <a:t>出多种风格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3520440"/>
            <a:ext cx="2560320" cy="868680"/>
          </a:xfrm>
          <a:prstGeom prst="roundRect">
            <a:avLst>
              <a:gd name="adj" fmla="val 12631"/>
            </a:avLst>
          </a:prstGeom>
          <a:solidFill>
            <a:srgbClr val="FFFFFF"/>
          </a:solidFill>
          <a:ln w="6350">
            <a:solidFill>
              <a:srgbClr val="E2DED7"/>
            </a:solidFill>
          </a:ln>
          <a:effectLst>
            <a:outerShdw blurRad="100584" dist="27432" dir="5400000" algn="t" rotWithShape="0">
              <a:srgbClr val="1C2B3A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0" y="3520440"/>
            <a:ext cx="548640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2816"/>
              </a:lnSpc>
              <a:spcAft>
                <a:spcPts val="0"/>
              </a:spcAft>
            </a:pPr>
            <a:r>
              <a:rPr lang="zh-CN" sz="2200" b="1">
                <a:solidFill>
                  <a:srgbClr val="D08A1E"/>
                </a:solidFill>
                <a:latin typeface="PingFang SC"/>
                <a:ea typeface="PingFang SC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51376" y="3520440"/>
            <a:ext cx="1828800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728"/>
              </a:lnSpc>
              <a:spcAft>
                <a:spcPts val="0"/>
              </a:spcAft>
            </a:pPr>
            <a:r>
              <a:rPr lang="zh-CN" sz="1350" b="1">
                <a:solidFill>
                  <a:srgbClr val="1E2B3A"/>
                </a:solidFill>
                <a:latin typeface="PingFang SC"/>
                <a:ea typeface="PingFang SC"/>
              </a:rPr>
              <a:t>选一种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520440"/>
            <a:ext cx="2560320" cy="868680"/>
          </a:xfrm>
          <a:prstGeom prst="roundRect">
            <a:avLst>
              <a:gd name="adj" fmla="val 12631"/>
            </a:avLst>
          </a:prstGeom>
          <a:solidFill>
            <a:srgbClr val="FFFFFF"/>
          </a:solidFill>
          <a:ln w="6350">
            <a:solidFill>
              <a:srgbClr val="E2DED7"/>
            </a:solidFill>
          </a:ln>
          <a:effectLst>
            <a:outerShdw blurRad="100584" dist="27432" dir="5400000" algn="t" rotWithShape="0">
              <a:srgbClr val="1C2B3A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3520440"/>
            <a:ext cx="548640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2816"/>
              </a:lnSpc>
              <a:spcAft>
                <a:spcPts val="0"/>
              </a:spcAft>
            </a:pPr>
            <a:r>
              <a:rPr lang="zh-CN" sz="2200" b="1">
                <a:solidFill>
                  <a:srgbClr val="D08A1E"/>
                </a:solidFill>
                <a:latin typeface="PingFang SC"/>
                <a:ea typeface="PingFang SC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8856" y="3520440"/>
            <a:ext cx="1828800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728"/>
              </a:lnSpc>
              <a:spcAft>
                <a:spcPts val="0"/>
              </a:spcAft>
            </a:pPr>
            <a:r>
              <a:rPr lang="zh-CN" sz="1350" b="1">
                <a:solidFill>
                  <a:srgbClr val="1E2B3A"/>
                </a:solidFill>
                <a:latin typeface="PingFang SC"/>
                <a:ea typeface="PingFang SC"/>
              </a:rPr>
              <a:t>用 Python 画组件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0" y="3520440"/>
            <a:ext cx="2560320" cy="868680"/>
          </a:xfrm>
          <a:prstGeom prst="roundRect">
            <a:avLst>
              <a:gd name="adj" fmla="val 12631"/>
            </a:avLst>
          </a:prstGeom>
          <a:solidFill>
            <a:srgbClr val="FFFFFF"/>
          </a:solidFill>
          <a:ln w="6350">
            <a:solidFill>
              <a:srgbClr val="E2DED7"/>
            </a:solidFill>
          </a:ln>
          <a:effectLst>
            <a:outerShdw blurRad="100584" dist="27432" dir="5400000" algn="t" rotWithShape="0">
              <a:srgbClr val="1C2B3A">
                <a:alpha val="16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52560" y="3520440"/>
            <a:ext cx="548640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2816"/>
              </a:lnSpc>
              <a:spcAft>
                <a:spcPts val="0"/>
              </a:spcAft>
            </a:pPr>
            <a:r>
              <a:rPr lang="zh-CN" sz="2200" b="1">
                <a:solidFill>
                  <a:srgbClr val="D08A1E"/>
                </a:solidFill>
                <a:latin typeface="PingFang SC"/>
                <a:ea typeface="PingFang SC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46336" y="3520440"/>
            <a:ext cx="1828800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728"/>
              </a:lnSpc>
              <a:spcAft>
                <a:spcPts val="0"/>
              </a:spcAft>
            </a:pPr>
            <a:r>
              <a:rPr lang="zh-CN" sz="1350" b="1">
                <a:solidFill>
                  <a:srgbClr val="1E2B3A"/>
                </a:solidFill>
                <a:latin typeface="PingFang SC"/>
                <a:ea typeface="PingFang SC"/>
              </a:rPr>
              <a:t>用 python-pptx 组合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7C2D6B97-691A-B947-C067-D58AA87FEFE9}"/>
              </a:ext>
            </a:extLst>
          </p:cNvPr>
          <p:cNvSpPr txBox="1"/>
          <p:nvPr/>
        </p:nvSpPr>
        <p:spPr>
          <a:xfrm>
            <a:off x="19921" y="304283"/>
            <a:ext cx="4485011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ts val="3711"/>
              </a:lnSpc>
            </a:pPr>
            <a:r>
              <a:rPr lang="en" altLang="zh-CN" sz="2900" b="1" dirty="0">
                <a:solidFill>
                  <a:srgbClr val="1E2B3A"/>
                </a:solidFill>
                <a:latin typeface="PingFang SC"/>
                <a:ea typeface="PingFang SC"/>
              </a:rPr>
              <a:t>Experimental results figure</a:t>
            </a:r>
            <a:endParaRPr lang="zh-CN" sz="2900" b="1" dirty="0">
              <a:solidFill>
                <a:srgbClr val="1E2B3A"/>
              </a:solidFill>
              <a:latin typeface="PingFang SC"/>
              <a:ea typeface="PingFang SC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C34E94C-9BB4-A60F-79EB-6E17415A14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9538" y="2913014"/>
            <a:ext cx="3986532" cy="306741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CB7F2D6-4FBC-CDA9-6470-EEBBED341B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9538" y="3063014"/>
            <a:ext cx="3986532" cy="306741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C7666A9-C1F7-EBE7-6553-860447FF9F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9538" y="3213014"/>
            <a:ext cx="3986532" cy="306741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C54B9A0-10CD-5324-68ED-9B77DD66F2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89538" y="3363014"/>
            <a:ext cx="3986532" cy="306741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1EF8D07-E604-D7A3-C6EA-780DFD3373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76747" y="3772558"/>
            <a:ext cx="3986532" cy="306741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2173CF8F-087F-3BA1-6AE9-147DCB0F281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56601" y="3790585"/>
            <a:ext cx="3986532" cy="3067415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79043BDF-3212-3728-509D-491C4BA7E95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84498" y="3781411"/>
            <a:ext cx="3986532" cy="3067415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C30AE175-F9A1-A47D-8911-C71159C08A6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97966" y="1084349"/>
            <a:ext cx="3986532" cy="3067415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92097351-71F4-111A-7CFA-43050317E5A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57392" y="1426590"/>
            <a:ext cx="3986532" cy="3067415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7EB26EE5-8D43-0058-89AB-8EBFD277AA7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99867" y="9174"/>
            <a:ext cx="3986532" cy="3067415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8F80DD72-484B-7C5A-A39A-E337D6BCEAC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07" y="1103453"/>
            <a:ext cx="3986532" cy="3067415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02453753-B536-480B-148E-B2CFAFAD1F4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163128" y="2988014"/>
            <a:ext cx="3986532" cy="3067415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E4CE954C-5517-CA7E-943C-A35AB201754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232804" y="18028"/>
            <a:ext cx="3986532" cy="3067415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AFB32681-1472-E525-F822-7E96F7BD60B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00188" y="3076589"/>
            <a:ext cx="3986532" cy="3067415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8B94BB58-1890-3DD9-61AC-3FD61D7EAEA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00188" y="9174"/>
            <a:ext cx="3986532" cy="3067415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4476E93F-D3E3-6E3A-ABE9-3598EBE6C5B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10783" y="3790585"/>
            <a:ext cx="3986532" cy="3067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02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</TotalTime>
  <Words>1700</Words>
  <Application>Microsoft Macintosh PowerPoint</Application>
  <PresentationFormat>宽屏</PresentationFormat>
  <Paragraphs>275</Paragraphs>
  <Slides>27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3" baseType="lpstr">
      <vt:lpstr>等线</vt:lpstr>
      <vt:lpstr>PingFang SC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用 AI 画科研示意图</dc:title>
  <dc:subject/>
  <dc:creator>胡家明</dc:creator>
  <cp:keywords/>
  <dc:description>generated using python-pptx</dc:description>
  <cp:lastModifiedBy>k2619</cp:lastModifiedBy>
  <cp:revision>7</cp:revision>
  <dcterms:created xsi:type="dcterms:W3CDTF">2013-01-27T09:14:16Z</dcterms:created>
  <dcterms:modified xsi:type="dcterms:W3CDTF">2026-10-29T10:50:25Z</dcterms:modified>
  <cp:category/>
</cp:coreProperties>
</file>